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55" d="100"/>
          <a:sy n="155" d="100"/>
        </p:scale>
        <p:origin x="192" y="4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440461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Session 2. Last session we laid the conceptual foundation. Today we open the hood on how LLMs actually work underneath—without heavy math, just clear mental models.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Brief roadmap of today. Unlike Session 1 which was heavy on history and concepts, today is about mechanisms—how the system actually works under the hood.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crucial reset. An LLM is not a database—it doesn't look up facts. It's a predictor. That's why it can sound confident while being wrong.</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Tokenization is where many surprises come from. Unicode, punctuation, spacing—all tokenized differently by different models. This is why prompt quality can be so sensitive to exact wording.</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Transformers are revolutionary because of attention. Before them, models processed text sequentially. Attention lets them see all relationships at once. That parallelization is why they're so fast and powerful.</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distinction is crucial because it shapes what models can and can't do out of the box. Why does ChatGPT know coding? Because it was pretrained on massive amounts of code. Why might it struggle with a niche domain? Because it wasn't fine-tuned on it.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 window expansion is one of the hottest areas of LLM research right now. As windows grow, you can do more in a single pass—including entire codebases, books, conversation histories.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parameters directly affect what the model outputs. Temperature especially is crucial—change it and the same prompt generates wildly different responses. This is what the lab today will experiment with.</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lab teaches intuition about prompt sensitivity. Many students are shocked at how much output changes with tiny wording shifts. That's because of how attention and tokenization work—concepts you've now learned.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floor for questions. These concepts will show up repeatedly in future sessions. If something didn't click now, it will when we apply it.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session is where things get practical. You'll learn how to structure prompts, use examples, and debug when outputs aren't what you expected. These are skills you'll use immediately.</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3A5F"/>
        </a:solidFill>
        <a:effectLst/>
      </p:bgPr>
    </p:bg>
    <p:spTree>
      <p:nvGrpSpPr>
        <p:cNvPr id="1" name=""/>
        <p:cNvGrpSpPr/>
        <p:nvPr/>
      </p:nvGrpSpPr>
      <p:grpSpPr>
        <a:xfrm>
          <a:off x="0" y="0"/>
          <a:ext cx="0" cy="0"/>
          <a:chOff x="0" y="0"/>
          <a:chExt cx="0" cy="0"/>
        </a:xfrm>
      </p:grpSpPr>
      <p:sp>
        <p:nvSpPr>
          <p:cNvPr id="2" name="Text 0"/>
          <p:cNvSpPr/>
          <p:nvPr/>
        </p:nvSpPr>
        <p:spPr>
          <a:xfrm>
            <a:off x="457200" y="914400"/>
            <a:ext cx="8229600" cy="548640"/>
          </a:xfrm>
          <a:prstGeom prst="rect">
            <a:avLst/>
          </a:prstGeom>
          <a:noFill/>
          <a:ln/>
        </p:spPr>
        <p:txBody>
          <a:bodyPr wrap="square" rtlCol="0" anchor="ctr"/>
          <a:lstStyle/>
          <a:p>
            <a:pPr marL="0" indent="0">
              <a:buNone/>
            </a:pPr>
            <a:r>
              <a:rPr lang="en-US" sz="3200" b="1" dirty="0">
                <a:solidFill>
                  <a:srgbClr val="0EA5E9"/>
                </a:solidFill>
                <a:latin typeface="Arial" pitchFamily="34" charset="0"/>
                <a:ea typeface="Arial" pitchFamily="34" charset="-122"/>
                <a:cs typeface="Arial" pitchFamily="34" charset="-120"/>
              </a:rPr>
              <a:t>Session 2</a:t>
            </a:r>
            <a:endParaRPr lang="en-US" sz="3200" dirty="0"/>
          </a:p>
        </p:txBody>
      </p:sp>
      <p:sp>
        <p:nvSpPr>
          <p:cNvPr id="3" name="Text 1"/>
          <p:cNvSpPr/>
          <p:nvPr/>
        </p:nvSpPr>
        <p:spPr>
          <a:xfrm>
            <a:off x="457200" y="1645920"/>
            <a:ext cx="8229600" cy="1097280"/>
          </a:xfrm>
          <a:prstGeom prst="rect">
            <a:avLst/>
          </a:prstGeom>
          <a:noFill/>
          <a:ln/>
        </p:spPr>
        <p:txBody>
          <a:bodyPr wrap="square" rtlCol="0" anchor="ctr"/>
          <a:lstStyle/>
          <a:p>
            <a:pPr marL="0" indent="0">
              <a:buNone/>
            </a:pPr>
            <a:r>
              <a:rPr lang="en-US" sz="4800" b="1" dirty="0">
                <a:solidFill>
                  <a:srgbClr val="FFFFFF"/>
                </a:solidFill>
                <a:latin typeface="Arial" pitchFamily="34" charset="0"/>
                <a:ea typeface="Arial" pitchFamily="34" charset="-122"/>
                <a:cs typeface="Arial" pitchFamily="34" charset="-120"/>
              </a:rPr>
              <a:t>LLM Fundamentals and Output Behavior</a:t>
            </a:r>
            <a:endParaRPr lang="en-US" sz="4800" dirty="0"/>
          </a:p>
        </p:txBody>
      </p:sp>
      <p:sp>
        <p:nvSpPr>
          <p:cNvPr id="4" name="Text 2"/>
          <p:cNvSpPr/>
          <p:nvPr/>
        </p:nvSpPr>
        <p:spPr>
          <a:xfrm>
            <a:off x="457200" y="4389120"/>
            <a:ext cx="8229600" cy="457200"/>
          </a:xfrm>
          <a:prstGeom prst="rect">
            <a:avLst/>
          </a:prstGeom>
          <a:noFill/>
          <a:ln/>
        </p:spPr>
        <p:txBody>
          <a:bodyPr wrap="square" rtlCol="0" anchor="ctr"/>
          <a:lstStyle/>
          <a:p>
            <a:pPr marL="0" indent="0">
              <a:buNone/>
            </a:pPr>
            <a:r>
              <a:rPr lang="en-US" sz="1800" dirty="0">
                <a:solidFill>
                  <a:srgbClr val="E8F1F8"/>
                </a:solidFill>
                <a:latin typeface="Calibri" pitchFamily="34" charset="0"/>
                <a:ea typeface="Calibri" pitchFamily="34" charset="-122"/>
                <a:cs typeface="Calibri" pitchFamily="34" charset="-120"/>
              </a:rPr>
              <a:t>Session 2 of 12 | Duration: 60 minutes</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57200"/>
            <a:ext cx="8229600" cy="731520"/>
          </a:xfrm>
          <a:prstGeom prst="rect">
            <a:avLst/>
          </a:prstGeom>
          <a:noFill/>
          <a:ln/>
        </p:spPr>
        <p:txBody>
          <a:bodyPr wrap="square" lIns="0" tIns="0" rIns="0" bIns="0" rtlCol="0" anchor="ctr"/>
          <a:lstStyle/>
          <a:p>
            <a:pPr marL="0" indent="0" algn="l">
              <a:buNone/>
            </a:pPr>
            <a:r>
              <a:rPr lang="en-US" sz="4400" b="1" dirty="0">
                <a:solidFill>
                  <a:srgbClr val="1E3A5F"/>
                </a:solidFill>
                <a:latin typeface="Arial" pitchFamily="34" charset="0"/>
                <a:ea typeface="Arial" pitchFamily="34" charset="-122"/>
                <a:cs typeface="Arial" pitchFamily="34" charset="-120"/>
              </a:rPr>
              <a:t>Today's Journey</a:t>
            </a:r>
            <a:endParaRPr lang="en-US" sz="4400" dirty="0"/>
          </a:p>
        </p:txBody>
      </p:sp>
      <p:sp>
        <p:nvSpPr>
          <p:cNvPr id="3" name="Shape 1"/>
          <p:cNvSpPr/>
          <p:nvPr/>
        </p:nvSpPr>
        <p:spPr>
          <a:xfrm>
            <a:off x="640080" y="1188720"/>
            <a:ext cx="914400" cy="320040"/>
          </a:xfrm>
          <a:prstGeom prst="roundRect">
            <a:avLst>
              <a:gd name="adj" fmla="val 14286"/>
            </a:avLst>
          </a:prstGeom>
          <a:solidFill>
            <a:srgbClr val="E8F1F8"/>
          </a:solidFill>
          <a:ln w="12700">
            <a:solidFill>
              <a:srgbClr val="0EA5E9"/>
            </a:solidFill>
            <a:prstDash val="solid"/>
          </a:ln>
        </p:spPr>
        <p:txBody>
          <a:bodyPr/>
          <a:lstStyle/>
          <a:p>
            <a:endParaRPr lang="en-US"/>
          </a:p>
        </p:txBody>
      </p:sp>
      <p:sp>
        <p:nvSpPr>
          <p:cNvPr id="4" name="Text 2"/>
          <p:cNvSpPr/>
          <p:nvPr/>
        </p:nvSpPr>
        <p:spPr>
          <a:xfrm>
            <a:off x="640080" y="1188720"/>
            <a:ext cx="914400" cy="320040"/>
          </a:xfrm>
          <a:prstGeom prst="rect">
            <a:avLst/>
          </a:prstGeom>
          <a:noFill/>
          <a:ln/>
        </p:spPr>
        <p:txBody>
          <a:bodyPr wrap="square" lIns="0" tIns="0" rIns="0" bIns="0" rtlCol="0" anchor="ctr"/>
          <a:lstStyle/>
          <a:p>
            <a:pPr marL="0" indent="0" algn="ctr">
              <a:buNone/>
            </a:pPr>
            <a:r>
              <a:rPr lang="en-US" sz="1100" b="1" dirty="0">
                <a:solidFill>
                  <a:srgbClr val="2E5090"/>
                </a:solidFill>
                <a:latin typeface="Calibri" pitchFamily="34" charset="0"/>
                <a:ea typeface="Calibri" pitchFamily="34" charset="-122"/>
                <a:cs typeface="Calibri" pitchFamily="34" charset="-120"/>
              </a:rPr>
              <a:t>~5 min</a:t>
            </a:r>
            <a:endParaRPr lang="en-US" sz="1100" dirty="0"/>
          </a:p>
        </p:txBody>
      </p:sp>
      <p:sp>
        <p:nvSpPr>
          <p:cNvPr id="5" name="Text 3"/>
          <p:cNvSpPr/>
          <p:nvPr/>
        </p:nvSpPr>
        <p:spPr>
          <a:xfrm>
            <a:off x="1737360" y="1188720"/>
            <a:ext cx="3657600" cy="182880"/>
          </a:xfrm>
          <a:prstGeom prst="rect">
            <a:avLst/>
          </a:prstGeom>
          <a:noFill/>
          <a:ln/>
        </p:spPr>
        <p:txBody>
          <a:bodyPr wrap="square" rtlCol="0" anchor="ctr"/>
          <a:lstStyle/>
          <a:p>
            <a:pPr marL="0" indent="0">
              <a:buNone/>
            </a:pPr>
            <a:r>
              <a:rPr lang="en-US" sz="1400" b="1" dirty="0">
                <a:solidFill>
                  <a:srgbClr val="1E3A5F"/>
                </a:solidFill>
                <a:latin typeface="Arial" pitchFamily="34" charset="0"/>
                <a:ea typeface="Arial" pitchFamily="34" charset="-122"/>
                <a:cs typeface="Arial" pitchFamily="34" charset="-120"/>
              </a:rPr>
              <a:t>Recap: What is an LLM?</a:t>
            </a:r>
            <a:endParaRPr lang="en-US" sz="1400" dirty="0"/>
          </a:p>
        </p:txBody>
      </p:sp>
      <p:sp>
        <p:nvSpPr>
          <p:cNvPr id="6" name="Text 4"/>
          <p:cNvSpPr/>
          <p:nvPr/>
        </p:nvSpPr>
        <p:spPr>
          <a:xfrm>
            <a:off x="1737360" y="1371600"/>
            <a:ext cx="3657600" cy="137160"/>
          </a:xfrm>
          <a:prstGeom prst="rect">
            <a:avLst/>
          </a:prstGeom>
          <a:noFill/>
          <a:ln/>
        </p:spPr>
        <p:txBody>
          <a:bodyPr wrap="square" rtlCol="0" anchor="ctr"/>
          <a:lstStyle/>
          <a:p>
            <a:pPr marL="0" indent="0">
              <a:buNone/>
            </a:pPr>
            <a:r>
              <a:rPr lang="en-US" sz="1200" i="1" dirty="0">
                <a:solidFill>
                  <a:srgbClr val="6B7280"/>
                </a:solidFill>
                <a:latin typeface="Calibri" pitchFamily="34" charset="0"/>
                <a:ea typeface="Calibri" pitchFamily="34" charset="-122"/>
                <a:cs typeface="Calibri" pitchFamily="34" charset="-120"/>
              </a:rPr>
              <a:t>Quick reset on Session 1 concepts</a:t>
            </a:r>
            <a:endParaRPr lang="en-US" sz="1200" dirty="0"/>
          </a:p>
        </p:txBody>
      </p:sp>
      <p:sp>
        <p:nvSpPr>
          <p:cNvPr id="7" name="Shape 5"/>
          <p:cNvSpPr/>
          <p:nvPr/>
        </p:nvSpPr>
        <p:spPr>
          <a:xfrm>
            <a:off x="640080" y="1645920"/>
            <a:ext cx="914400" cy="320040"/>
          </a:xfrm>
          <a:prstGeom prst="roundRect">
            <a:avLst>
              <a:gd name="adj" fmla="val 14286"/>
            </a:avLst>
          </a:prstGeom>
          <a:solidFill>
            <a:srgbClr val="E8F1F8"/>
          </a:solidFill>
          <a:ln w="12700">
            <a:solidFill>
              <a:srgbClr val="0EA5E9"/>
            </a:solidFill>
            <a:prstDash val="solid"/>
          </a:ln>
        </p:spPr>
        <p:txBody>
          <a:bodyPr/>
          <a:lstStyle/>
          <a:p>
            <a:endParaRPr lang="en-US"/>
          </a:p>
        </p:txBody>
      </p:sp>
      <p:sp>
        <p:nvSpPr>
          <p:cNvPr id="8" name="Text 6"/>
          <p:cNvSpPr/>
          <p:nvPr/>
        </p:nvSpPr>
        <p:spPr>
          <a:xfrm>
            <a:off x="640080" y="1645920"/>
            <a:ext cx="914400" cy="320040"/>
          </a:xfrm>
          <a:prstGeom prst="rect">
            <a:avLst/>
          </a:prstGeom>
          <a:noFill/>
          <a:ln/>
        </p:spPr>
        <p:txBody>
          <a:bodyPr wrap="square" lIns="0" tIns="0" rIns="0" bIns="0" rtlCol="0" anchor="ctr"/>
          <a:lstStyle/>
          <a:p>
            <a:pPr marL="0" indent="0" algn="ctr">
              <a:buNone/>
            </a:pPr>
            <a:r>
              <a:rPr lang="en-US" sz="1100" b="1" dirty="0">
                <a:solidFill>
                  <a:srgbClr val="2E5090"/>
                </a:solidFill>
                <a:latin typeface="Calibri" pitchFamily="34" charset="0"/>
                <a:ea typeface="Calibri" pitchFamily="34" charset="-122"/>
                <a:cs typeface="Calibri" pitchFamily="34" charset="-120"/>
              </a:rPr>
              <a:t>~8 min</a:t>
            </a:r>
            <a:endParaRPr lang="en-US" sz="1100" dirty="0"/>
          </a:p>
        </p:txBody>
      </p:sp>
      <p:sp>
        <p:nvSpPr>
          <p:cNvPr id="9" name="Text 7"/>
          <p:cNvSpPr/>
          <p:nvPr/>
        </p:nvSpPr>
        <p:spPr>
          <a:xfrm>
            <a:off x="1737360" y="1645920"/>
            <a:ext cx="3657600" cy="182880"/>
          </a:xfrm>
          <a:prstGeom prst="rect">
            <a:avLst/>
          </a:prstGeom>
          <a:noFill/>
          <a:ln/>
        </p:spPr>
        <p:txBody>
          <a:bodyPr wrap="square" rtlCol="0" anchor="ctr"/>
          <a:lstStyle/>
          <a:p>
            <a:pPr marL="0" indent="0">
              <a:buNone/>
            </a:pPr>
            <a:r>
              <a:rPr lang="en-US" sz="1400" b="1" dirty="0">
                <a:solidFill>
                  <a:srgbClr val="1E3A5F"/>
                </a:solidFill>
                <a:latin typeface="Arial" pitchFamily="34" charset="0"/>
                <a:ea typeface="Arial" pitchFamily="34" charset="-122"/>
                <a:cs typeface="Arial" pitchFamily="34" charset="-120"/>
              </a:rPr>
              <a:t>Tokens &amp; Tokenization</a:t>
            </a:r>
            <a:endParaRPr lang="en-US" sz="1400" dirty="0"/>
          </a:p>
        </p:txBody>
      </p:sp>
      <p:sp>
        <p:nvSpPr>
          <p:cNvPr id="10" name="Text 8"/>
          <p:cNvSpPr/>
          <p:nvPr/>
        </p:nvSpPr>
        <p:spPr>
          <a:xfrm>
            <a:off x="1737360" y="1828800"/>
            <a:ext cx="3657600" cy="137160"/>
          </a:xfrm>
          <a:prstGeom prst="rect">
            <a:avLst/>
          </a:prstGeom>
          <a:noFill/>
          <a:ln/>
        </p:spPr>
        <p:txBody>
          <a:bodyPr wrap="square" rtlCol="0" anchor="ctr"/>
          <a:lstStyle/>
          <a:p>
            <a:pPr marL="0" indent="0">
              <a:buNone/>
            </a:pPr>
            <a:r>
              <a:rPr lang="en-US" sz="1200" i="1" dirty="0">
                <a:solidFill>
                  <a:srgbClr val="6B7280"/>
                </a:solidFill>
                <a:latin typeface="Calibri" pitchFamily="34" charset="0"/>
                <a:ea typeface="Calibri" pitchFamily="34" charset="-122"/>
                <a:cs typeface="Calibri" pitchFamily="34" charset="-120"/>
              </a:rPr>
              <a:t>How LLMs break down text</a:t>
            </a:r>
            <a:endParaRPr lang="en-US" sz="1200" dirty="0"/>
          </a:p>
        </p:txBody>
      </p:sp>
      <p:sp>
        <p:nvSpPr>
          <p:cNvPr id="11" name="Shape 9"/>
          <p:cNvSpPr/>
          <p:nvPr/>
        </p:nvSpPr>
        <p:spPr>
          <a:xfrm>
            <a:off x="640080" y="2103120"/>
            <a:ext cx="914400" cy="320040"/>
          </a:xfrm>
          <a:prstGeom prst="roundRect">
            <a:avLst>
              <a:gd name="adj" fmla="val 14286"/>
            </a:avLst>
          </a:prstGeom>
          <a:solidFill>
            <a:srgbClr val="E8F1F8"/>
          </a:solidFill>
          <a:ln w="12700">
            <a:solidFill>
              <a:srgbClr val="0EA5E9"/>
            </a:solidFill>
            <a:prstDash val="solid"/>
          </a:ln>
        </p:spPr>
        <p:txBody>
          <a:bodyPr/>
          <a:lstStyle/>
          <a:p>
            <a:endParaRPr lang="en-US"/>
          </a:p>
        </p:txBody>
      </p:sp>
      <p:sp>
        <p:nvSpPr>
          <p:cNvPr id="12" name="Text 10"/>
          <p:cNvSpPr/>
          <p:nvPr/>
        </p:nvSpPr>
        <p:spPr>
          <a:xfrm>
            <a:off x="640080" y="2103120"/>
            <a:ext cx="914400" cy="320040"/>
          </a:xfrm>
          <a:prstGeom prst="rect">
            <a:avLst/>
          </a:prstGeom>
          <a:noFill/>
          <a:ln/>
        </p:spPr>
        <p:txBody>
          <a:bodyPr wrap="square" lIns="0" tIns="0" rIns="0" bIns="0" rtlCol="0" anchor="ctr"/>
          <a:lstStyle/>
          <a:p>
            <a:pPr marL="0" indent="0" algn="ctr">
              <a:buNone/>
            </a:pPr>
            <a:r>
              <a:rPr lang="en-US" sz="1100" b="1" dirty="0">
                <a:solidFill>
                  <a:srgbClr val="2E5090"/>
                </a:solidFill>
                <a:latin typeface="Calibri" pitchFamily="34" charset="0"/>
                <a:ea typeface="Calibri" pitchFamily="34" charset="-122"/>
                <a:cs typeface="Calibri" pitchFamily="34" charset="-120"/>
              </a:rPr>
              <a:t>~8 min</a:t>
            </a:r>
            <a:endParaRPr lang="en-US" sz="1100" dirty="0"/>
          </a:p>
        </p:txBody>
      </p:sp>
      <p:sp>
        <p:nvSpPr>
          <p:cNvPr id="13" name="Text 11"/>
          <p:cNvSpPr/>
          <p:nvPr/>
        </p:nvSpPr>
        <p:spPr>
          <a:xfrm>
            <a:off x="1737360" y="2103120"/>
            <a:ext cx="3657600" cy="182880"/>
          </a:xfrm>
          <a:prstGeom prst="rect">
            <a:avLst/>
          </a:prstGeom>
          <a:noFill/>
          <a:ln/>
        </p:spPr>
        <p:txBody>
          <a:bodyPr wrap="square" rtlCol="0" anchor="ctr"/>
          <a:lstStyle/>
          <a:p>
            <a:pPr marL="0" indent="0">
              <a:buNone/>
            </a:pPr>
            <a:r>
              <a:rPr lang="en-US" sz="1400" b="1" dirty="0">
                <a:solidFill>
                  <a:srgbClr val="1E3A5F"/>
                </a:solidFill>
                <a:latin typeface="Arial" pitchFamily="34" charset="0"/>
                <a:ea typeface="Arial" pitchFamily="34" charset="-122"/>
                <a:cs typeface="Arial" pitchFamily="34" charset="-120"/>
              </a:rPr>
              <a:t>Transformers (Conceptually)</a:t>
            </a:r>
            <a:endParaRPr lang="en-US" sz="1400" dirty="0"/>
          </a:p>
        </p:txBody>
      </p:sp>
      <p:sp>
        <p:nvSpPr>
          <p:cNvPr id="14" name="Text 12"/>
          <p:cNvSpPr/>
          <p:nvPr/>
        </p:nvSpPr>
        <p:spPr>
          <a:xfrm>
            <a:off x="1737360" y="2286000"/>
            <a:ext cx="3657600" cy="137160"/>
          </a:xfrm>
          <a:prstGeom prst="rect">
            <a:avLst/>
          </a:prstGeom>
          <a:noFill/>
          <a:ln/>
        </p:spPr>
        <p:txBody>
          <a:bodyPr wrap="square" rtlCol="0" anchor="ctr"/>
          <a:lstStyle/>
          <a:p>
            <a:pPr marL="0" indent="0">
              <a:buNone/>
            </a:pPr>
            <a:r>
              <a:rPr lang="en-US" sz="1200" i="1" dirty="0">
                <a:solidFill>
                  <a:srgbClr val="6B7280"/>
                </a:solidFill>
                <a:latin typeface="Calibri" pitchFamily="34" charset="0"/>
                <a:ea typeface="Calibri" pitchFamily="34" charset="-122"/>
                <a:cs typeface="Calibri" pitchFamily="34" charset="-120"/>
              </a:rPr>
              <a:t>The architecture that powers modern LLMs</a:t>
            </a:r>
            <a:endParaRPr lang="en-US" sz="1200" dirty="0"/>
          </a:p>
        </p:txBody>
      </p:sp>
      <p:sp>
        <p:nvSpPr>
          <p:cNvPr id="15" name="Shape 13"/>
          <p:cNvSpPr/>
          <p:nvPr/>
        </p:nvSpPr>
        <p:spPr>
          <a:xfrm>
            <a:off x="640080" y="2560320"/>
            <a:ext cx="914400" cy="320040"/>
          </a:xfrm>
          <a:prstGeom prst="roundRect">
            <a:avLst>
              <a:gd name="adj" fmla="val 14286"/>
            </a:avLst>
          </a:prstGeom>
          <a:solidFill>
            <a:srgbClr val="E8F1F8"/>
          </a:solidFill>
          <a:ln w="12700">
            <a:solidFill>
              <a:srgbClr val="0EA5E9"/>
            </a:solidFill>
            <a:prstDash val="solid"/>
          </a:ln>
        </p:spPr>
        <p:txBody>
          <a:bodyPr/>
          <a:lstStyle/>
          <a:p>
            <a:endParaRPr lang="en-US"/>
          </a:p>
        </p:txBody>
      </p:sp>
      <p:sp>
        <p:nvSpPr>
          <p:cNvPr id="16" name="Text 14"/>
          <p:cNvSpPr/>
          <p:nvPr/>
        </p:nvSpPr>
        <p:spPr>
          <a:xfrm>
            <a:off x="640080" y="2560320"/>
            <a:ext cx="914400" cy="320040"/>
          </a:xfrm>
          <a:prstGeom prst="rect">
            <a:avLst/>
          </a:prstGeom>
          <a:noFill/>
          <a:ln/>
        </p:spPr>
        <p:txBody>
          <a:bodyPr wrap="square" lIns="0" tIns="0" rIns="0" bIns="0" rtlCol="0" anchor="ctr"/>
          <a:lstStyle/>
          <a:p>
            <a:pPr marL="0" indent="0" algn="ctr">
              <a:buNone/>
            </a:pPr>
            <a:r>
              <a:rPr lang="en-US" sz="1100" b="1" dirty="0">
                <a:solidFill>
                  <a:srgbClr val="2E5090"/>
                </a:solidFill>
                <a:latin typeface="Calibri" pitchFamily="34" charset="0"/>
                <a:ea typeface="Calibri" pitchFamily="34" charset="-122"/>
                <a:cs typeface="Calibri" pitchFamily="34" charset="-120"/>
              </a:rPr>
              <a:t>~8 min</a:t>
            </a:r>
            <a:endParaRPr lang="en-US" sz="1100" dirty="0"/>
          </a:p>
        </p:txBody>
      </p:sp>
      <p:sp>
        <p:nvSpPr>
          <p:cNvPr id="17" name="Text 15"/>
          <p:cNvSpPr/>
          <p:nvPr/>
        </p:nvSpPr>
        <p:spPr>
          <a:xfrm>
            <a:off x="1737360" y="2560320"/>
            <a:ext cx="3657600" cy="182880"/>
          </a:xfrm>
          <a:prstGeom prst="rect">
            <a:avLst/>
          </a:prstGeom>
          <a:noFill/>
          <a:ln/>
        </p:spPr>
        <p:txBody>
          <a:bodyPr wrap="square" rtlCol="0" anchor="ctr"/>
          <a:lstStyle/>
          <a:p>
            <a:pPr marL="0" indent="0">
              <a:buNone/>
            </a:pPr>
            <a:r>
              <a:rPr lang="en-US" sz="1400" b="1" dirty="0">
                <a:solidFill>
                  <a:srgbClr val="1E3A5F"/>
                </a:solidFill>
                <a:latin typeface="Arial" pitchFamily="34" charset="0"/>
                <a:ea typeface="Arial" pitchFamily="34" charset="-122"/>
                <a:cs typeface="Arial" pitchFamily="34" charset="-120"/>
              </a:rPr>
              <a:t>Pretraining vs Fine-tuning</a:t>
            </a:r>
            <a:endParaRPr lang="en-US" sz="1400" dirty="0"/>
          </a:p>
        </p:txBody>
      </p:sp>
      <p:sp>
        <p:nvSpPr>
          <p:cNvPr id="18" name="Text 16"/>
          <p:cNvSpPr/>
          <p:nvPr/>
        </p:nvSpPr>
        <p:spPr>
          <a:xfrm>
            <a:off x="1737360" y="2743200"/>
            <a:ext cx="3657600" cy="137160"/>
          </a:xfrm>
          <a:prstGeom prst="rect">
            <a:avLst/>
          </a:prstGeom>
          <a:noFill/>
          <a:ln/>
        </p:spPr>
        <p:txBody>
          <a:bodyPr wrap="square" rtlCol="0" anchor="ctr"/>
          <a:lstStyle/>
          <a:p>
            <a:pPr marL="0" indent="0">
              <a:buNone/>
            </a:pPr>
            <a:r>
              <a:rPr lang="en-US" sz="1200" i="1" dirty="0">
                <a:solidFill>
                  <a:srgbClr val="6B7280"/>
                </a:solidFill>
                <a:latin typeface="Calibri" pitchFamily="34" charset="0"/>
                <a:ea typeface="Calibri" pitchFamily="34" charset="-122"/>
                <a:cs typeface="Calibri" pitchFamily="34" charset="-120"/>
              </a:rPr>
              <a:t>Different training approaches</a:t>
            </a:r>
            <a:endParaRPr lang="en-US" sz="1200" dirty="0"/>
          </a:p>
        </p:txBody>
      </p:sp>
      <p:sp>
        <p:nvSpPr>
          <p:cNvPr id="19" name="Shape 17"/>
          <p:cNvSpPr/>
          <p:nvPr/>
        </p:nvSpPr>
        <p:spPr>
          <a:xfrm>
            <a:off x="640080" y="3017520"/>
            <a:ext cx="914400" cy="320040"/>
          </a:xfrm>
          <a:prstGeom prst="roundRect">
            <a:avLst>
              <a:gd name="adj" fmla="val 14286"/>
            </a:avLst>
          </a:prstGeom>
          <a:solidFill>
            <a:srgbClr val="E8F1F8"/>
          </a:solidFill>
          <a:ln w="12700">
            <a:solidFill>
              <a:srgbClr val="0EA5E9"/>
            </a:solidFill>
            <a:prstDash val="solid"/>
          </a:ln>
        </p:spPr>
        <p:txBody>
          <a:bodyPr/>
          <a:lstStyle/>
          <a:p>
            <a:endParaRPr lang="en-US"/>
          </a:p>
        </p:txBody>
      </p:sp>
      <p:sp>
        <p:nvSpPr>
          <p:cNvPr id="20" name="Text 18"/>
          <p:cNvSpPr/>
          <p:nvPr/>
        </p:nvSpPr>
        <p:spPr>
          <a:xfrm>
            <a:off x="640080" y="3017520"/>
            <a:ext cx="914400" cy="320040"/>
          </a:xfrm>
          <a:prstGeom prst="rect">
            <a:avLst/>
          </a:prstGeom>
          <a:noFill/>
          <a:ln/>
        </p:spPr>
        <p:txBody>
          <a:bodyPr wrap="square" lIns="0" tIns="0" rIns="0" bIns="0" rtlCol="0" anchor="ctr"/>
          <a:lstStyle/>
          <a:p>
            <a:pPr marL="0" indent="0" algn="ctr">
              <a:buNone/>
            </a:pPr>
            <a:r>
              <a:rPr lang="en-US" sz="1100" b="1" dirty="0">
                <a:solidFill>
                  <a:srgbClr val="2E5090"/>
                </a:solidFill>
                <a:latin typeface="Calibri" pitchFamily="34" charset="0"/>
                <a:ea typeface="Calibri" pitchFamily="34" charset="-122"/>
                <a:cs typeface="Calibri" pitchFamily="34" charset="-120"/>
              </a:rPr>
              <a:t>~8 min</a:t>
            </a:r>
            <a:endParaRPr lang="en-US" sz="1100" dirty="0"/>
          </a:p>
        </p:txBody>
      </p:sp>
      <p:sp>
        <p:nvSpPr>
          <p:cNvPr id="21" name="Text 19"/>
          <p:cNvSpPr/>
          <p:nvPr/>
        </p:nvSpPr>
        <p:spPr>
          <a:xfrm>
            <a:off x="1737360" y="3017520"/>
            <a:ext cx="3657600" cy="182880"/>
          </a:xfrm>
          <a:prstGeom prst="rect">
            <a:avLst/>
          </a:prstGeom>
          <a:noFill/>
          <a:ln/>
        </p:spPr>
        <p:txBody>
          <a:bodyPr wrap="square" rtlCol="0" anchor="ctr"/>
          <a:lstStyle/>
          <a:p>
            <a:pPr marL="0" indent="0">
              <a:buNone/>
            </a:pPr>
            <a:r>
              <a:rPr lang="en-US" sz="1400" b="1" dirty="0">
                <a:solidFill>
                  <a:srgbClr val="1E3A5F"/>
                </a:solidFill>
                <a:latin typeface="Arial" pitchFamily="34" charset="0"/>
                <a:ea typeface="Arial" pitchFamily="34" charset="-122"/>
                <a:cs typeface="Arial" pitchFamily="34" charset="-120"/>
              </a:rPr>
              <a:t>Context Windows</a:t>
            </a:r>
            <a:endParaRPr lang="en-US" sz="1400" dirty="0"/>
          </a:p>
        </p:txBody>
      </p:sp>
      <p:sp>
        <p:nvSpPr>
          <p:cNvPr id="22" name="Text 20"/>
          <p:cNvSpPr/>
          <p:nvPr/>
        </p:nvSpPr>
        <p:spPr>
          <a:xfrm>
            <a:off x="1737360" y="3200400"/>
            <a:ext cx="3657600" cy="137160"/>
          </a:xfrm>
          <a:prstGeom prst="rect">
            <a:avLst/>
          </a:prstGeom>
          <a:noFill/>
          <a:ln/>
        </p:spPr>
        <p:txBody>
          <a:bodyPr wrap="square" rtlCol="0" anchor="ctr"/>
          <a:lstStyle/>
          <a:p>
            <a:pPr marL="0" indent="0">
              <a:buNone/>
            </a:pPr>
            <a:r>
              <a:rPr lang="en-US" sz="1200" i="1" dirty="0">
                <a:solidFill>
                  <a:srgbClr val="6B7280"/>
                </a:solidFill>
                <a:latin typeface="Calibri" pitchFamily="34" charset="0"/>
                <a:ea typeface="Calibri" pitchFamily="34" charset="-122"/>
                <a:cs typeface="Calibri" pitchFamily="34" charset="-120"/>
              </a:rPr>
              <a:t>Limits and what they mean</a:t>
            </a:r>
            <a:endParaRPr lang="en-US" sz="1200" dirty="0"/>
          </a:p>
        </p:txBody>
      </p:sp>
      <p:sp>
        <p:nvSpPr>
          <p:cNvPr id="23" name="Shape 21"/>
          <p:cNvSpPr/>
          <p:nvPr/>
        </p:nvSpPr>
        <p:spPr>
          <a:xfrm>
            <a:off x="640080" y="3474720"/>
            <a:ext cx="914400" cy="320040"/>
          </a:xfrm>
          <a:prstGeom prst="roundRect">
            <a:avLst>
              <a:gd name="adj" fmla="val 14286"/>
            </a:avLst>
          </a:prstGeom>
          <a:solidFill>
            <a:srgbClr val="E8F1F8"/>
          </a:solidFill>
          <a:ln w="12700">
            <a:solidFill>
              <a:srgbClr val="0EA5E9"/>
            </a:solidFill>
            <a:prstDash val="solid"/>
          </a:ln>
        </p:spPr>
        <p:txBody>
          <a:bodyPr/>
          <a:lstStyle/>
          <a:p>
            <a:endParaRPr lang="en-US"/>
          </a:p>
        </p:txBody>
      </p:sp>
      <p:sp>
        <p:nvSpPr>
          <p:cNvPr id="24" name="Text 22"/>
          <p:cNvSpPr/>
          <p:nvPr/>
        </p:nvSpPr>
        <p:spPr>
          <a:xfrm>
            <a:off x="640080" y="3474720"/>
            <a:ext cx="914400" cy="320040"/>
          </a:xfrm>
          <a:prstGeom prst="rect">
            <a:avLst/>
          </a:prstGeom>
          <a:noFill/>
          <a:ln/>
        </p:spPr>
        <p:txBody>
          <a:bodyPr wrap="square" lIns="0" tIns="0" rIns="0" bIns="0" rtlCol="0" anchor="ctr"/>
          <a:lstStyle/>
          <a:p>
            <a:pPr marL="0" indent="0" algn="ctr">
              <a:buNone/>
            </a:pPr>
            <a:r>
              <a:rPr lang="en-US" sz="1100" b="1" dirty="0">
                <a:solidFill>
                  <a:srgbClr val="2E5090"/>
                </a:solidFill>
                <a:latin typeface="Calibri" pitchFamily="34" charset="0"/>
                <a:ea typeface="Calibri" pitchFamily="34" charset="-122"/>
                <a:cs typeface="Calibri" pitchFamily="34" charset="-120"/>
              </a:rPr>
              <a:t>~8 min</a:t>
            </a:r>
            <a:endParaRPr lang="en-US" sz="1100" dirty="0"/>
          </a:p>
        </p:txBody>
      </p:sp>
      <p:sp>
        <p:nvSpPr>
          <p:cNvPr id="25" name="Text 23"/>
          <p:cNvSpPr/>
          <p:nvPr/>
        </p:nvSpPr>
        <p:spPr>
          <a:xfrm>
            <a:off x="1737360" y="3474720"/>
            <a:ext cx="3657600" cy="182880"/>
          </a:xfrm>
          <a:prstGeom prst="rect">
            <a:avLst/>
          </a:prstGeom>
          <a:noFill/>
          <a:ln/>
        </p:spPr>
        <p:txBody>
          <a:bodyPr wrap="square" rtlCol="0" anchor="ctr"/>
          <a:lstStyle/>
          <a:p>
            <a:pPr marL="0" indent="0">
              <a:buNone/>
            </a:pPr>
            <a:r>
              <a:rPr lang="en-US" sz="1400" b="1" dirty="0">
                <a:solidFill>
                  <a:srgbClr val="1E3A5F"/>
                </a:solidFill>
                <a:latin typeface="Arial" pitchFamily="34" charset="0"/>
                <a:ea typeface="Arial" pitchFamily="34" charset="-122"/>
                <a:cs typeface="Arial" pitchFamily="34" charset="-120"/>
              </a:rPr>
              <a:t>Parameter Settings</a:t>
            </a:r>
            <a:endParaRPr lang="en-US" sz="1400" dirty="0"/>
          </a:p>
        </p:txBody>
      </p:sp>
      <p:sp>
        <p:nvSpPr>
          <p:cNvPr id="26" name="Text 24"/>
          <p:cNvSpPr/>
          <p:nvPr/>
        </p:nvSpPr>
        <p:spPr>
          <a:xfrm>
            <a:off x="1737360" y="3657600"/>
            <a:ext cx="3657600" cy="137160"/>
          </a:xfrm>
          <a:prstGeom prst="rect">
            <a:avLst/>
          </a:prstGeom>
          <a:noFill/>
          <a:ln/>
        </p:spPr>
        <p:txBody>
          <a:bodyPr wrap="square" rtlCol="0" anchor="ctr"/>
          <a:lstStyle/>
          <a:p>
            <a:pPr marL="0" indent="0">
              <a:buNone/>
            </a:pPr>
            <a:r>
              <a:rPr lang="en-US" sz="1200" i="1" dirty="0">
                <a:solidFill>
                  <a:srgbClr val="6B7280"/>
                </a:solidFill>
                <a:latin typeface="Calibri" pitchFamily="34" charset="0"/>
                <a:ea typeface="Calibri" pitchFamily="34" charset="-122"/>
                <a:cs typeface="Calibri" pitchFamily="34" charset="-120"/>
              </a:rPr>
              <a:t>Temperature, top-p, and why they matter</a:t>
            </a:r>
            <a:endParaRPr lang="en-US" sz="1200" dirty="0"/>
          </a:p>
        </p:txBody>
      </p:sp>
      <p:sp>
        <p:nvSpPr>
          <p:cNvPr id="27" name="Shape 25"/>
          <p:cNvSpPr/>
          <p:nvPr/>
        </p:nvSpPr>
        <p:spPr>
          <a:xfrm>
            <a:off x="640080" y="3931920"/>
            <a:ext cx="914400" cy="320040"/>
          </a:xfrm>
          <a:prstGeom prst="roundRect">
            <a:avLst>
              <a:gd name="adj" fmla="val 14286"/>
            </a:avLst>
          </a:prstGeom>
          <a:solidFill>
            <a:srgbClr val="E8F1F8"/>
          </a:solidFill>
          <a:ln w="12700">
            <a:solidFill>
              <a:srgbClr val="0EA5E9"/>
            </a:solidFill>
            <a:prstDash val="solid"/>
          </a:ln>
        </p:spPr>
        <p:txBody>
          <a:bodyPr/>
          <a:lstStyle/>
          <a:p>
            <a:endParaRPr lang="en-US"/>
          </a:p>
        </p:txBody>
      </p:sp>
      <p:sp>
        <p:nvSpPr>
          <p:cNvPr id="28" name="Text 26"/>
          <p:cNvSpPr/>
          <p:nvPr/>
        </p:nvSpPr>
        <p:spPr>
          <a:xfrm>
            <a:off x="640080" y="3931920"/>
            <a:ext cx="914400" cy="320040"/>
          </a:xfrm>
          <a:prstGeom prst="rect">
            <a:avLst/>
          </a:prstGeom>
          <a:noFill/>
          <a:ln/>
        </p:spPr>
        <p:txBody>
          <a:bodyPr wrap="square" lIns="0" tIns="0" rIns="0" bIns="0" rtlCol="0" anchor="ctr"/>
          <a:lstStyle/>
          <a:p>
            <a:pPr marL="0" indent="0" algn="ctr">
              <a:buNone/>
            </a:pPr>
            <a:r>
              <a:rPr lang="en-US" sz="1100" b="1" dirty="0">
                <a:solidFill>
                  <a:srgbClr val="2E5090"/>
                </a:solidFill>
                <a:latin typeface="Calibri" pitchFamily="34" charset="0"/>
                <a:ea typeface="Calibri" pitchFamily="34" charset="-122"/>
                <a:cs typeface="Calibri" pitchFamily="34" charset="-120"/>
              </a:rPr>
              <a:t>~10 min</a:t>
            </a:r>
            <a:endParaRPr lang="en-US" sz="1100" dirty="0"/>
          </a:p>
        </p:txBody>
      </p:sp>
      <p:sp>
        <p:nvSpPr>
          <p:cNvPr id="29" name="Text 27"/>
          <p:cNvSpPr/>
          <p:nvPr/>
        </p:nvSpPr>
        <p:spPr>
          <a:xfrm>
            <a:off x="1737360" y="3931920"/>
            <a:ext cx="3657600" cy="182880"/>
          </a:xfrm>
          <a:prstGeom prst="rect">
            <a:avLst/>
          </a:prstGeom>
          <a:noFill/>
          <a:ln/>
        </p:spPr>
        <p:txBody>
          <a:bodyPr wrap="square" rtlCol="0" anchor="ctr"/>
          <a:lstStyle/>
          <a:p>
            <a:pPr marL="0" indent="0">
              <a:buNone/>
            </a:pPr>
            <a:r>
              <a:rPr lang="en-US" sz="1400" b="1" dirty="0">
                <a:solidFill>
                  <a:srgbClr val="1E3A5F"/>
                </a:solidFill>
                <a:latin typeface="Arial" pitchFamily="34" charset="0"/>
                <a:ea typeface="Arial" pitchFamily="34" charset="-122"/>
                <a:cs typeface="Arial" pitchFamily="34" charset="-120"/>
              </a:rPr>
              <a:t>Lab Exercise</a:t>
            </a:r>
            <a:endParaRPr lang="en-US" sz="1400" dirty="0"/>
          </a:p>
        </p:txBody>
      </p:sp>
      <p:sp>
        <p:nvSpPr>
          <p:cNvPr id="30" name="Text 28"/>
          <p:cNvSpPr/>
          <p:nvPr/>
        </p:nvSpPr>
        <p:spPr>
          <a:xfrm>
            <a:off x="1737360" y="4114800"/>
            <a:ext cx="3657600" cy="137160"/>
          </a:xfrm>
          <a:prstGeom prst="rect">
            <a:avLst/>
          </a:prstGeom>
          <a:noFill/>
          <a:ln/>
        </p:spPr>
        <p:txBody>
          <a:bodyPr wrap="square" rtlCol="0" anchor="ctr"/>
          <a:lstStyle/>
          <a:p>
            <a:pPr marL="0" indent="0">
              <a:buNone/>
            </a:pPr>
            <a:r>
              <a:rPr lang="en-US" sz="1200" i="1" dirty="0">
                <a:solidFill>
                  <a:srgbClr val="6B7280"/>
                </a:solidFill>
                <a:latin typeface="Calibri" pitchFamily="34" charset="0"/>
                <a:ea typeface="Calibri" pitchFamily="34" charset="-122"/>
                <a:cs typeface="Calibri" pitchFamily="34" charset="-120"/>
              </a:rPr>
              <a:t>Test your resume with prompt variations</a:t>
            </a:r>
            <a:endParaRPr lang="en-US" sz="1200" dirty="0"/>
          </a:p>
        </p:txBody>
      </p:sp>
      <p:sp>
        <p:nvSpPr>
          <p:cNvPr id="31" name="Shape 29"/>
          <p:cNvSpPr/>
          <p:nvPr/>
        </p:nvSpPr>
        <p:spPr>
          <a:xfrm>
            <a:off x="640080" y="4389120"/>
            <a:ext cx="914400" cy="320040"/>
          </a:xfrm>
          <a:prstGeom prst="roundRect">
            <a:avLst>
              <a:gd name="adj" fmla="val 14286"/>
            </a:avLst>
          </a:prstGeom>
          <a:solidFill>
            <a:srgbClr val="E8F1F8"/>
          </a:solidFill>
          <a:ln w="12700">
            <a:solidFill>
              <a:srgbClr val="0EA5E9"/>
            </a:solidFill>
            <a:prstDash val="solid"/>
          </a:ln>
        </p:spPr>
        <p:txBody>
          <a:bodyPr/>
          <a:lstStyle/>
          <a:p>
            <a:endParaRPr lang="en-US"/>
          </a:p>
        </p:txBody>
      </p:sp>
      <p:sp>
        <p:nvSpPr>
          <p:cNvPr id="32" name="Text 30"/>
          <p:cNvSpPr/>
          <p:nvPr/>
        </p:nvSpPr>
        <p:spPr>
          <a:xfrm>
            <a:off x="640080" y="4389120"/>
            <a:ext cx="914400" cy="320040"/>
          </a:xfrm>
          <a:prstGeom prst="rect">
            <a:avLst/>
          </a:prstGeom>
          <a:noFill/>
          <a:ln/>
        </p:spPr>
        <p:txBody>
          <a:bodyPr wrap="square" lIns="0" tIns="0" rIns="0" bIns="0" rtlCol="0" anchor="ctr"/>
          <a:lstStyle/>
          <a:p>
            <a:pPr marL="0" indent="0" algn="ctr">
              <a:buNone/>
            </a:pPr>
            <a:r>
              <a:rPr lang="en-US" sz="1100" b="1" dirty="0">
                <a:solidFill>
                  <a:srgbClr val="2E5090"/>
                </a:solidFill>
                <a:latin typeface="Calibri" pitchFamily="34" charset="0"/>
                <a:ea typeface="Calibri" pitchFamily="34" charset="-122"/>
                <a:cs typeface="Calibri" pitchFamily="34" charset="-120"/>
              </a:rPr>
              <a:t>~5 min</a:t>
            </a:r>
            <a:endParaRPr lang="en-US" sz="1100" dirty="0"/>
          </a:p>
        </p:txBody>
      </p:sp>
      <p:sp>
        <p:nvSpPr>
          <p:cNvPr id="33" name="Text 31"/>
          <p:cNvSpPr/>
          <p:nvPr/>
        </p:nvSpPr>
        <p:spPr>
          <a:xfrm>
            <a:off x="1737360" y="4389120"/>
            <a:ext cx="3657600" cy="182880"/>
          </a:xfrm>
          <a:prstGeom prst="rect">
            <a:avLst/>
          </a:prstGeom>
          <a:noFill/>
          <a:ln/>
        </p:spPr>
        <p:txBody>
          <a:bodyPr wrap="square" rtlCol="0" anchor="ctr"/>
          <a:lstStyle/>
          <a:p>
            <a:pPr marL="0" indent="0">
              <a:buNone/>
            </a:pPr>
            <a:r>
              <a:rPr lang="en-US" sz="1400" b="1" dirty="0">
                <a:solidFill>
                  <a:srgbClr val="1E3A5F"/>
                </a:solidFill>
                <a:latin typeface="Arial" pitchFamily="34" charset="0"/>
                <a:ea typeface="Arial" pitchFamily="34" charset="-122"/>
                <a:cs typeface="Arial" pitchFamily="34" charset="-120"/>
              </a:rPr>
              <a:t>Wrap-up</a:t>
            </a:r>
            <a:endParaRPr lang="en-US" sz="1400" dirty="0"/>
          </a:p>
        </p:txBody>
      </p:sp>
      <p:sp>
        <p:nvSpPr>
          <p:cNvPr id="34" name="Text 32"/>
          <p:cNvSpPr/>
          <p:nvPr/>
        </p:nvSpPr>
        <p:spPr>
          <a:xfrm>
            <a:off x="1737360" y="4572000"/>
            <a:ext cx="3657600" cy="137160"/>
          </a:xfrm>
          <a:prstGeom prst="rect">
            <a:avLst/>
          </a:prstGeom>
          <a:noFill/>
          <a:ln/>
        </p:spPr>
        <p:txBody>
          <a:bodyPr wrap="square" rtlCol="0" anchor="ctr"/>
          <a:lstStyle/>
          <a:p>
            <a:pPr marL="0" indent="0">
              <a:buNone/>
            </a:pPr>
            <a:r>
              <a:rPr lang="en-US" sz="1200" i="1" dirty="0">
                <a:solidFill>
                  <a:srgbClr val="6B7280"/>
                </a:solidFill>
                <a:latin typeface="Calibri" pitchFamily="34" charset="0"/>
                <a:ea typeface="Calibri" pitchFamily="34" charset="-122"/>
                <a:cs typeface="Calibri" pitchFamily="34" charset="-120"/>
              </a:rPr>
              <a:t>Key takeaways and preview of Session 3</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57200"/>
            <a:ext cx="8229600" cy="731520"/>
          </a:xfrm>
          <a:prstGeom prst="rect">
            <a:avLst/>
          </a:prstGeom>
          <a:noFill/>
          <a:ln/>
        </p:spPr>
        <p:txBody>
          <a:bodyPr wrap="square" lIns="0" tIns="0" rIns="0" bIns="0" rtlCol="0" anchor="ctr"/>
          <a:lstStyle/>
          <a:p>
            <a:pPr marL="0" indent="0" algn="l">
              <a:buNone/>
            </a:pPr>
            <a:r>
              <a:rPr lang="en-US" sz="4400" b="1" dirty="0">
                <a:solidFill>
                  <a:srgbClr val="1E3A5F"/>
                </a:solidFill>
                <a:latin typeface="Arial" pitchFamily="34" charset="0"/>
                <a:ea typeface="Arial" pitchFamily="34" charset="-122"/>
                <a:cs typeface="Arial" pitchFamily="34" charset="-120"/>
              </a:rPr>
              <a:t>Quick Recap: What is an LLM?</a:t>
            </a:r>
            <a:endParaRPr lang="en-US" sz="4400" dirty="0"/>
          </a:p>
        </p:txBody>
      </p:sp>
      <p:sp>
        <p:nvSpPr>
          <p:cNvPr id="3" name="Text 1"/>
          <p:cNvSpPr/>
          <p:nvPr/>
        </p:nvSpPr>
        <p:spPr>
          <a:xfrm>
            <a:off x="457200" y="1188720"/>
            <a:ext cx="4114800" cy="365760"/>
          </a:xfrm>
          <a:prstGeom prst="rect">
            <a:avLst/>
          </a:prstGeom>
          <a:noFill/>
          <a:ln/>
        </p:spPr>
        <p:txBody>
          <a:bodyPr wrap="square" rtlCol="0" anchor="t"/>
          <a:lstStyle/>
          <a:p>
            <a:pPr marL="0" indent="0" algn="l">
              <a:buNone/>
            </a:pPr>
            <a:r>
              <a:rPr lang="en-US" sz="1600" dirty="0">
                <a:solidFill>
                  <a:srgbClr val="3F3F3F"/>
                </a:solidFill>
                <a:latin typeface="Calibri" pitchFamily="34" charset="0"/>
                <a:ea typeface="Calibri" pitchFamily="34" charset="-122"/>
                <a:cs typeface="Calibri" pitchFamily="34" charset="-120"/>
              </a:rPr>
              <a:t>An LLM (Large Language Model) is a deep learning model trained on enormous amounts of text to:</a:t>
            </a:r>
            <a:endParaRPr lang="en-US" sz="1600" dirty="0"/>
          </a:p>
        </p:txBody>
      </p:sp>
      <p:sp>
        <p:nvSpPr>
          <p:cNvPr id="4" name="Text 2"/>
          <p:cNvSpPr/>
          <p:nvPr/>
        </p:nvSpPr>
        <p:spPr>
          <a:xfrm>
            <a:off x="640080" y="2024861"/>
            <a:ext cx="3657600" cy="914400"/>
          </a:xfrm>
          <a:prstGeom prst="rect">
            <a:avLst/>
          </a:prstGeom>
          <a:noFill/>
          <a:ln/>
        </p:spPr>
        <p:txBody>
          <a:bodyPr wrap="square" rtlCol="0" anchor="t"/>
          <a:lstStyle/>
          <a:p>
            <a:pPr marL="342900" indent="-342900" algn="l">
              <a:buSzPct val="100000"/>
              <a:buChar char="•"/>
            </a:pPr>
            <a:r>
              <a:rPr lang="en-US" sz="1600" dirty="0">
                <a:solidFill>
                  <a:srgbClr val="3F3F3F"/>
                </a:solidFill>
                <a:latin typeface="Calibri" pitchFamily="34" charset="0"/>
                <a:ea typeface="Calibri" pitchFamily="34" charset="-122"/>
                <a:cs typeface="Calibri" pitchFamily="34" charset="-120"/>
              </a:rPr>
              <a:t>Understand patterns in language</a:t>
            </a:r>
            <a:endParaRPr lang="en-US" sz="1600" dirty="0"/>
          </a:p>
          <a:p>
            <a:pPr marL="342900" indent="-342900" algn="l">
              <a:buSzPct val="100000"/>
              <a:buChar char="•"/>
            </a:pPr>
            <a:r>
              <a:rPr lang="en-US" sz="1600" dirty="0">
                <a:solidFill>
                  <a:srgbClr val="3F3F3F"/>
                </a:solidFill>
                <a:latin typeface="Calibri" pitchFamily="34" charset="0"/>
                <a:ea typeface="Calibri" pitchFamily="34" charset="-122"/>
                <a:cs typeface="Calibri" pitchFamily="34" charset="-120"/>
              </a:rPr>
              <a:t>Predict the next most likely token</a:t>
            </a:r>
            <a:endParaRPr lang="en-US" sz="1600" dirty="0"/>
          </a:p>
          <a:p>
            <a:pPr marL="342900" indent="-342900" algn="l">
              <a:buSzPct val="100000"/>
              <a:buChar char="•"/>
            </a:pPr>
            <a:r>
              <a:rPr lang="en-US" sz="1600" dirty="0">
                <a:solidFill>
                  <a:srgbClr val="3F3F3F"/>
                </a:solidFill>
                <a:latin typeface="Calibri" pitchFamily="34" charset="0"/>
                <a:ea typeface="Calibri" pitchFamily="34" charset="-122"/>
                <a:cs typeface="Calibri" pitchFamily="34" charset="-120"/>
              </a:rPr>
              <a:t>Generate coherent text responses</a:t>
            </a:r>
            <a:endParaRPr lang="en-US" sz="1600" dirty="0"/>
          </a:p>
        </p:txBody>
      </p:sp>
      <p:sp>
        <p:nvSpPr>
          <p:cNvPr id="5" name="Shape 3"/>
          <p:cNvSpPr/>
          <p:nvPr/>
        </p:nvSpPr>
        <p:spPr>
          <a:xfrm>
            <a:off x="4846320" y="1188720"/>
            <a:ext cx="3657600" cy="1828800"/>
          </a:xfrm>
          <a:prstGeom prst="roundRect">
            <a:avLst>
              <a:gd name="adj" fmla="val 5000"/>
            </a:avLst>
          </a:prstGeom>
          <a:solidFill>
            <a:srgbClr val="E8F1F8"/>
          </a:solidFill>
          <a:ln w="25400">
            <a:solidFill>
              <a:srgbClr val="0EA5E9"/>
            </a:solidFill>
            <a:prstDash val="solid"/>
          </a:ln>
        </p:spPr>
        <p:txBody>
          <a:bodyPr/>
          <a:lstStyle/>
          <a:p>
            <a:endParaRPr lang="en-US"/>
          </a:p>
        </p:txBody>
      </p:sp>
      <p:sp>
        <p:nvSpPr>
          <p:cNvPr id="6" name="Text 4"/>
          <p:cNvSpPr/>
          <p:nvPr/>
        </p:nvSpPr>
        <p:spPr>
          <a:xfrm>
            <a:off x="5029200" y="1371600"/>
            <a:ext cx="3291840" cy="274320"/>
          </a:xfrm>
          <a:prstGeom prst="rect">
            <a:avLst/>
          </a:prstGeom>
          <a:noFill/>
          <a:ln/>
        </p:spPr>
        <p:txBody>
          <a:bodyPr wrap="square" rtlCol="0" anchor="ctr"/>
          <a:lstStyle/>
          <a:p>
            <a:pPr marL="0" indent="0">
              <a:buNone/>
            </a:pPr>
            <a:r>
              <a:rPr lang="en-US" sz="1400" b="1" dirty="0">
                <a:solidFill>
                  <a:srgbClr val="2E5090"/>
                </a:solidFill>
                <a:latin typeface="Arial" pitchFamily="34" charset="0"/>
                <a:ea typeface="Arial" pitchFamily="34" charset="-122"/>
                <a:cs typeface="Arial" pitchFamily="34" charset="-120"/>
              </a:rPr>
              <a:t>🔑 Key Insight</a:t>
            </a:r>
            <a:endParaRPr lang="en-US" sz="1400" dirty="0"/>
          </a:p>
        </p:txBody>
      </p:sp>
      <p:sp>
        <p:nvSpPr>
          <p:cNvPr id="7" name="Text 5"/>
          <p:cNvSpPr/>
          <p:nvPr/>
        </p:nvSpPr>
        <p:spPr>
          <a:xfrm>
            <a:off x="5029200" y="1737360"/>
            <a:ext cx="3291840" cy="1097280"/>
          </a:xfrm>
          <a:prstGeom prst="rect">
            <a:avLst/>
          </a:prstGeom>
          <a:noFill/>
          <a:ln/>
        </p:spPr>
        <p:txBody>
          <a:bodyPr wrap="square" rtlCol="0" anchor="t"/>
          <a:lstStyle/>
          <a:p>
            <a:pPr marL="0" indent="0">
              <a:buNone/>
            </a:pPr>
            <a:r>
              <a:rPr lang="en-US" sz="1400" dirty="0">
                <a:solidFill>
                  <a:srgbClr val="3F3F3F"/>
                </a:solidFill>
                <a:latin typeface="Calibri" pitchFamily="34" charset="0"/>
                <a:ea typeface="Calibri" pitchFamily="34" charset="-122"/>
                <a:cs typeface="Calibri" pitchFamily="34" charset="-120"/>
              </a:rPr>
              <a:t>An LLM is fundamentally a statistical pattern-matcher, not a fact retriever. It outputs what's statistically likely based on training data, not what's necessarily true.</a:t>
            </a:r>
            <a:endParaRPr lang="en-US" sz="1400" dirty="0"/>
          </a:p>
        </p:txBody>
      </p:sp>
      <p:sp>
        <p:nvSpPr>
          <p:cNvPr id="8" name="Shape 6"/>
          <p:cNvSpPr/>
          <p:nvPr/>
        </p:nvSpPr>
        <p:spPr>
          <a:xfrm>
            <a:off x="457200" y="3657600"/>
            <a:ext cx="8229600" cy="1188720"/>
          </a:xfrm>
          <a:prstGeom prst="rect">
            <a:avLst/>
          </a:prstGeom>
          <a:solidFill>
            <a:srgbClr val="F3F4F6"/>
          </a:solidFill>
          <a:ln w="12700">
            <a:solidFill>
              <a:srgbClr val="6B7280"/>
            </a:solidFill>
            <a:prstDash val="solid"/>
          </a:ln>
        </p:spPr>
        <p:txBody>
          <a:bodyPr/>
          <a:lstStyle/>
          <a:p>
            <a:endParaRPr lang="en-US"/>
          </a:p>
        </p:txBody>
      </p:sp>
      <p:sp>
        <p:nvSpPr>
          <p:cNvPr id="9" name="Text 7"/>
          <p:cNvSpPr/>
          <p:nvPr/>
        </p:nvSpPr>
        <p:spPr>
          <a:xfrm>
            <a:off x="640080" y="3749040"/>
            <a:ext cx="7863840" cy="228600"/>
          </a:xfrm>
          <a:prstGeom prst="rect">
            <a:avLst/>
          </a:prstGeom>
          <a:noFill/>
          <a:ln/>
        </p:spPr>
        <p:txBody>
          <a:bodyPr wrap="square" rtlCol="0" anchor="ctr"/>
          <a:lstStyle/>
          <a:p>
            <a:pPr marL="0" indent="0">
              <a:buNone/>
            </a:pPr>
            <a:r>
              <a:rPr lang="en-US" sz="1400" b="1" dirty="0">
                <a:solidFill>
                  <a:srgbClr val="1E3A5F"/>
                </a:solidFill>
                <a:latin typeface="Arial" pitchFamily="34" charset="0"/>
                <a:ea typeface="Arial" pitchFamily="34" charset="-122"/>
                <a:cs typeface="Arial" pitchFamily="34" charset="-120"/>
              </a:rPr>
              <a:t>The Core Mechanism: Next-Token Prediction</a:t>
            </a:r>
            <a:endParaRPr lang="en-US" sz="1400" dirty="0"/>
          </a:p>
        </p:txBody>
      </p:sp>
      <p:sp>
        <p:nvSpPr>
          <p:cNvPr id="10" name="Text 8"/>
          <p:cNvSpPr/>
          <p:nvPr/>
        </p:nvSpPr>
        <p:spPr>
          <a:xfrm>
            <a:off x="640080" y="4023360"/>
            <a:ext cx="7863840" cy="640080"/>
          </a:xfrm>
          <a:prstGeom prst="rect">
            <a:avLst/>
          </a:prstGeom>
          <a:noFill/>
          <a:ln/>
        </p:spPr>
        <p:txBody>
          <a:bodyPr wrap="square" rtlCol="0" anchor="ctr"/>
          <a:lstStyle/>
          <a:p>
            <a:pPr marL="0" indent="0">
              <a:buNone/>
            </a:pPr>
            <a:r>
              <a:rPr lang="en-US" sz="1400" dirty="0">
                <a:solidFill>
                  <a:srgbClr val="3F3F3F"/>
                </a:solidFill>
                <a:latin typeface="Calibri" pitchFamily="34" charset="0"/>
                <a:ea typeface="Calibri" pitchFamily="34" charset="-122"/>
                <a:cs typeface="Calibri" pitchFamily="34" charset="-120"/>
              </a:rPr>
              <a:t>Your prompt → Model processes tokens → Predicts next token → Adds it → Repeats until response is complete</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57200"/>
            <a:ext cx="8229600" cy="731520"/>
          </a:xfrm>
          <a:prstGeom prst="rect">
            <a:avLst/>
          </a:prstGeom>
          <a:noFill/>
          <a:ln/>
        </p:spPr>
        <p:txBody>
          <a:bodyPr wrap="square" lIns="0" tIns="0" rIns="0" bIns="0" rtlCol="0" anchor="ctr"/>
          <a:lstStyle/>
          <a:p>
            <a:pPr marL="0" indent="0" algn="l">
              <a:buNone/>
            </a:pPr>
            <a:r>
              <a:rPr lang="en-US" sz="4400" b="1" dirty="0">
                <a:solidFill>
                  <a:srgbClr val="1E3A5F"/>
                </a:solidFill>
                <a:latin typeface="Arial" pitchFamily="34" charset="0"/>
                <a:ea typeface="Arial" pitchFamily="34" charset="-122"/>
                <a:cs typeface="Arial" pitchFamily="34" charset="-120"/>
              </a:rPr>
              <a:t>Tokens &amp; Tokenization</a:t>
            </a:r>
            <a:endParaRPr lang="en-US" sz="4400" dirty="0"/>
          </a:p>
        </p:txBody>
      </p:sp>
      <p:sp>
        <p:nvSpPr>
          <p:cNvPr id="3" name="Shape 1"/>
          <p:cNvSpPr/>
          <p:nvPr/>
        </p:nvSpPr>
        <p:spPr>
          <a:xfrm>
            <a:off x="457200" y="1188720"/>
            <a:ext cx="8229600" cy="640080"/>
          </a:xfrm>
          <a:prstGeom prst="roundRect">
            <a:avLst>
              <a:gd name="adj" fmla="val 14286"/>
            </a:avLst>
          </a:prstGeom>
          <a:solidFill>
            <a:srgbClr val="E8F1F8"/>
          </a:solidFill>
          <a:ln w="25400">
            <a:solidFill>
              <a:srgbClr val="0EA5E9"/>
            </a:solidFill>
            <a:prstDash val="solid"/>
          </a:ln>
        </p:spPr>
        <p:txBody>
          <a:bodyPr/>
          <a:lstStyle/>
          <a:p>
            <a:endParaRPr lang="en-US"/>
          </a:p>
        </p:txBody>
      </p:sp>
      <p:sp>
        <p:nvSpPr>
          <p:cNvPr id="4" name="Text 2"/>
          <p:cNvSpPr/>
          <p:nvPr/>
        </p:nvSpPr>
        <p:spPr>
          <a:xfrm>
            <a:off x="640080" y="1280160"/>
            <a:ext cx="7863840" cy="457200"/>
          </a:xfrm>
          <a:prstGeom prst="rect">
            <a:avLst/>
          </a:prstGeom>
          <a:noFill/>
          <a:ln/>
        </p:spPr>
        <p:txBody>
          <a:bodyPr wrap="square" rtlCol="0" anchor="ctr"/>
          <a:lstStyle/>
          <a:p>
            <a:pPr marL="0" indent="0">
              <a:buNone/>
            </a:pPr>
            <a:r>
              <a:rPr lang="en-US" sz="1500" b="1" dirty="0">
                <a:solidFill>
                  <a:srgbClr val="2E5090"/>
                </a:solidFill>
                <a:latin typeface="Arial" pitchFamily="34" charset="0"/>
                <a:ea typeface="Arial" pitchFamily="34" charset="-122"/>
                <a:cs typeface="Arial" pitchFamily="34" charset="-120"/>
              </a:rPr>
              <a:t>A token is the smallest unit of text an LLM processes. Usually 3-4 characters on average.</a:t>
            </a:r>
            <a:endParaRPr lang="en-US" sz="1500" dirty="0"/>
          </a:p>
        </p:txBody>
      </p:sp>
      <p:sp>
        <p:nvSpPr>
          <p:cNvPr id="5" name="Text 3"/>
          <p:cNvSpPr/>
          <p:nvPr/>
        </p:nvSpPr>
        <p:spPr>
          <a:xfrm>
            <a:off x="457200" y="2011680"/>
            <a:ext cx="8229600" cy="274320"/>
          </a:xfrm>
          <a:prstGeom prst="rect">
            <a:avLst/>
          </a:prstGeom>
          <a:noFill/>
          <a:ln/>
        </p:spPr>
        <p:txBody>
          <a:bodyPr wrap="square" rtlCol="0" anchor="ctr"/>
          <a:lstStyle/>
          <a:p>
            <a:pPr marL="0" indent="0">
              <a:buNone/>
            </a:pPr>
            <a:r>
              <a:rPr lang="en-US" sz="1600" b="1" dirty="0">
                <a:solidFill>
                  <a:srgbClr val="1E3A5F"/>
                </a:solidFill>
                <a:latin typeface="Arial" pitchFamily="34" charset="0"/>
                <a:ea typeface="Arial" pitchFamily="34" charset="-122"/>
                <a:cs typeface="Arial" pitchFamily="34" charset="-120"/>
              </a:rPr>
              <a:t>Example: How Text Gets Tokenized</a:t>
            </a:r>
            <a:endParaRPr lang="en-US" sz="1600" dirty="0"/>
          </a:p>
        </p:txBody>
      </p:sp>
      <p:sp>
        <p:nvSpPr>
          <p:cNvPr id="6" name="Text 4"/>
          <p:cNvSpPr/>
          <p:nvPr/>
        </p:nvSpPr>
        <p:spPr>
          <a:xfrm>
            <a:off x="640080" y="2423160"/>
            <a:ext cx="7863840" cy="320040"/>
          </a:xfrm>
          <a:prstGeom prst="rect">
            <a:avLst/>
          </a:prstGeom>
          <a:noFill/>
          <a:ln/>
        </p:spPr>
        <p:txBody>
          <a:bodyPr wrap="square" rtlCol="0" anchor="ctr"/>
          <a:lstStyle/>
          <a:p>
            <a:pPr marL="0" indent="0">
              <a:buNone/>
            </a:pPr>
            <a:r>
              <a:rPr lang="en-US" sz="1400" i="1" dirty="0">
                <a:solidFill>
                  <a:srgbClr val="3F3F3F"/>
                </a:solidFill>
                <a:latin typeface="Calibri" pitchFamily="34" charset="0"/>
                <a:ea typeface="Calibri" pitchFamily="34" charset="-122"/>
                <a:cs typeface="Calibri" pitchFamily="34" charset="-120"/>
              </a:rPr>
              <a:t>"The model thinks."</a:t>
            </a:r>
            <a:endParaRPr lang="en-US" sz="1400" dirty="0"/>
          </a:p>
        </p:txBody>
      </p:sp>
      <p:sp>
        <p:nvSpPr>
          <p:cNvPr id="7" name="Shape 5"/>
          <p:cNvSpPr/>
          <p:nvPr/>
        </p:nvSpPr>
        <p:spPr>
          <a:xfrm>
            <a:off x="640080" y="2926080"/>
            <a:ext cx="1645920" cy="365760"/>
          </a:xfrm>
          <a:prstGeom prst="roundRect">
            <a:avLst>
              <a:gd name="adj" fmla="val 12500"/>
            </a:avLst>
          </a:prstGeom>
          <a:solidFill>
            <a:srgbClr val="E8F1F8"/>
          </a:solidFill>
          <a:ln w="12700">
            <a:solidFill>
              <a:srgbClr val="0EA5E9"/>
            </a:solidFill>
            <a:prstDash val="solid"/>
          </a:ln>
        </p:spPr>
        <p:txBody>
          <a:bodyPr/>
          <a:lstStyle/>
          <a:p>
            <a:endParaRPr lang="en-US"/>
          </a:p>
        </p:txBody>
      </p:sp>
      <p:sp>
        <p:nvSpPr>
          <p:cNvPr id="8" name="Text 6"/>
          <p:cNvSpPr/>
          <p:nvPr/>
        </p:nvSpPr>
        <p:spPr>
          <a:xfrm>
            <a:off x="640080" y="2944368"/>
            <a:ext cx="1645920" cy="137160"/>
          </a:xfrm>
          <a:prstGeom prst="rect">
            <a:avLst/>
          </a:prstGeom>
          <a:noFill/>
          <a:ln/>
        </p:spPr>
        <p:txBody>
          <a:bodyPr wrap="square" rtlCol="0" anchor="ctr"/>
          <a:lstStyle/>
          <a:p>
            <a:pPr marL="0" indent="0" algn="ctr">
              <a:buNone/>
            </a:pPr>
            <a:r>
              <a:rPr lang="en-US" sz="1000" b="1" dirty="0">
                <a:solidFill>
                  <a:srgbClr val="0EA5E9"/>
                </a:solidFill>
                <a:latin typeface="Arial" pitchFamily="34" charset="0"/>
                <a:ea typeface="Arial" pitchFamily="34" charset="-122"/>
                <a:cs typeface="Arial" pitchFamily="34" charset="-120"/>
              </a:rPr>
              <a:t>Token 1</a:t>
            </a:r>
            <a:endParaRPr lang="en-US" sz="1000" dirty="0"/>
          </a:p>
        </p:txBody>
      </p:sp>
      <p:sp>
        <p:nvSpPr>
          <p:cNvPr id="9" name="Text 7"/>
          <p:cNvSpPr/>
          <p:nvPr/>
        </p:nvSpPr>
        <p:spPr>
          <a:xfrm>
            <a:off x="640080" y="3090672"/>
            <a:ext cx="1645920" cy="164592"/>
          </a:xfrm>
          <a:prstGeom prst="rect">
            <a:avLst/>
          </a:prstGeom>
          <a:noFill/>
          <a:ln/>
        </p:spPr>
        <p:txBody>
          <a:bodyPr wrap="square" rtlCol="0" anchor="ctr"/>
          <a:lstStyle/>
          <a:p>
            <a:pPr marL="0" indent="0" algn="ctr">
              <a:buNone/>
            </a:pPr>
            <a:r>
              <a:rPr lang="en-US" sz="1200" b="1" dirty="0">
                <a:solidFill>
                  <a:srgbClr val="1E3A5F"/>
                </a:solidFill>
                <a:latin typeface="Calibri" pitchFamily="34" charset="0"/>
                <a:ea typeface="Calibri" pitchFamily="34" charset="-122"/>
                <a:cs typeface="Calibri" pitchFamily="34" charset="-120"/>
              </a:rPr>
              <a:t>The</a:t>
            </a:r>
            <a:endParaRPr lang="en-US" sz="1200" dirty="0"/>
          </a:p>
        </p:txBody>
      </p:sp>
      <p:sp>
        <p:nvSpPr>
          <p:cNvPr id="10" name="Shape 8"/>
          <p:cNvSpPr/>
          <p:nvPr/>
        </p:nvSpPr>
        <p:spPr>
          <a:xfrm>
            <a:off x="2560320" y="2926080"/>
            <a:ext cx="1645920" cy="365760"/>
          </a:xfrm>
          <a:prstGeom prst="roundRect">
            <a:avLst>
              <a:gd name="adj" fmla="val 12500"/>
            </a:avLst>
          </a:prstGeom>
          <a:solidFill>
            <a:srgbClr val="E8F1F8"/>
          </a:solidFill>
          <a:ln w="12700">
            <a:solidFill>
              <a:srgbClr val="0EA5E9"/>
            </a:solidFill>
            <a:prstDash val="solid"/>
          </a:ln>
        </p:spPr>
        <p:txBody>
          <a:bodyPr/>
          <a:lstStyle/>
          <a:p>
            <a:endParaRPr lang="en-US"/>
          </a:p>
        </p:txBody>
      </p:sp>
      <p:sp>
        <p:nvSpPr>
          <p:cNvPr id="11" name="Text 9"/>
          <p:cNvSpPr/>
          <p:nvPr/>
        </p:nvSpPr>
        <p:spPr>
          <a:xfrm>
            <a:off x="2560320" y="2944368"/>
            <a:ext cx="1645920" cy="137160"/>
          </a:xfrm>
          <a:prstGeom prst="rect">
            <a:avLst/>
          </a:prstGeom>
          <a:noFill/>
          <a:ln/>
        </p:spPr>
        <p:txBody>
          <a:bodyPr wrap="square" rtlCol="0" anchor="ctr"/>
          <a:lstStyle/>
          <a:p>
            <a:pPr marL="0" indent="0" algn="ctr">
              <a:buNone/>
            </a:pPr>
            <a:r>
              <a:rPr lang="en-US" sz="1000" b="1" dirty="0">
                <a:solidFill>
                  <a:srgbClr val="0EA5E9"/>
                </a:solidFill>
                <a:latin typeface="Arial" pitchFamily="34" charset="0"/>
                <a:ea typeface="Arial" pitchFamily="34" charset="-122"/>
                <a:cs typeface="Arial" pitchFamily="34" charset="-120"/>
              </a:rPr>
              <a:t>Token 2</a:t>
            </a:r>
            <a:endParaRPr lang="en-US" sz="1000" dirty="0"/>
          </a:p>
        </p:txBody>
      </p:sp>
      <p:sp>
        <p:nvSpPr>
          <p:cNvPr id="12" name="Text 10"/>
          <p:cNvSpPr/>
          <p:nvPr/>
        </p:nvSpPr>
        <p:spPr>
          <a:xfrm>
            <a:off x="2560320" y="3090672"/>
            <a:ext cx="1645920" cy="164592"/>
          </a:xfrm>
          <a:prstGeom prst="rect">
            <a:avLst/>
          </a:prstGeom>
          <a:noFill/>
          <a:ln/>
        </p:spPr>
        <p:txBody>
          <a:bodyPr wrap="square" rtlCol="0" anchor="ctr"/>
          <a:lstStyle/>
          <a:p>
            <a:pPr marL="0" indent="0" algn="ctr">
              <a:buNone/>
            </a:pPr>
            <a:r>
              <a:rPr lang="en-US" sz="1200" b="1" dirty="0">
                <a:solidFill>
                  <a:srgbClr val="1E3A5F"/>
                </a:solidFill>
                <a:latin typeface="Calibri" pitchFamily="34" charset="0"/>
                <a:ea typeface="Calibri" pitchFamily="34" charset="-122"/>
                <a:cs typeface="Calibri" pitchFamily="34" charset="-120"/>
              </a:rPr>
              <a:t>"model"</a:t>
            </a:r>
            <a:endParaRPr lang="en-US" sz="1200" dirty="0"/>
          </a:p>
        </p:txBody>
      </p:sp>
      <p:sp>
        <p:nvSpPr>
          <p:cNvPr id="13" name="Shape 11"/>
          <p:cNvSpPr/>
          <p:nvPr/>
        </p:nvSpPr>
        <p:spPr>
          <a:xfrm>
            <a:off x="4480560" y="2926080"/>
            <a:ext cx="1645920" cy="365760"/>
          </a:xfrm>
          <a:prstGeom prst="roundRect">
            <a:avLst>
              <a:gd name="adj" fmla="val 12500"/>
            </a:avLst>
          </a:prstGeom>
          <a:solidFill>
            <a:srgbClr val="E8F1F8"/>
          </a:solidFill>
          <a:ln w="12700">
            <a:solidFill>
              <a:srgbClr val="0EA5E9"/>
            </a:solidFill>
            <a:prstDash val="solid"/>
          </a:ln>
        </p:spPr>
        <p:txBody>
          <a:bodyPr/>
          <a:lstStyle/>
          <a:p>
            <a:endParaRPr lang="en-US"/>
          </a:p>
        </p:txBody>
      </p:sp>
      <p:sp>
        <p:nvSpPr>
          <p:cNvPr id="14" name="Text 12"/>
          <p:cNvSpPr/>
          <p:nvPr/>
        </p:nvSpPr>
        <p:spPr>
          <a:xfrm>
            <a:off x="4480560" y="2944368"/>
            <a:ext cx="1645920" cy="137160"/>
          </a:xfrm>
          <a:prstGeom prst="rect">
            <a:avLst/>
          </a:prstGeom>
          <a:noFill/>
          <a:ln/>
        </p:spPr>
        <p:txBody>
          <a:bodyPr wrap="square" rtlCol="0" anchor="ctr"/>
          <a:lstStyle/>
          <a:p>
            <a:pPr marL="0" indent="0" algn="ctr">
              <a:buNone/>
            </a:pPr>
            <a:r>
              <a:rPr lang="en-US" sz="1000" b="1" dirty="0">
                <a:solidFill>
                  <a:srgbClr val="0EA5E9"/>
                </a:solidFill>
                <a:latin typeface="Arial" pitchFamily="34" charset="0"/>
                <a:ea typeface="Arial" pitchFamily="34" charset="-122"/>
                <a:cs typeface="Arial" pitchFamily="34" charset="-120"/>
              </a:rPr>
              <a:t>Token 3</a:t>
            </a:r>
            <a:endParaRPr lang="en-US" sz="1000" dirty="0"/>
          </a:p>
        </p:txBody>
      </p:sp>
      <p:sp>
        <p:nvSpPr>
          <p:cNvPr id="15" name="Text 13"/>
          <p:cNvSpPr/>
          <p:nvPr/>
        </p:nvSpPr>
        <p:spPr>
          <a:xfrm>
            <a:off x="4480560" y="3090672"/>
            <a:ext cx="1645920" cy="164592"/>
          </a:xfrm>
          <a:prstGeom prst="rect">
            <a:avLst/>
          </a:prstGeom>
          <a:noFill/>
          <a:ln/>
        </p:spPr>
        <p:txBody>
          <a:bodyPr wrap="square" rtlCol="0" anchor="ctr"/>
          <a:lstStyle/>
          <a:p>
            <a:pPr marL="0" indent="0" algn="ctr">
              <a:buNone/>
            </a:pPr>
            <a:r>
              <a:rPr lang="en-US" sz="1200" b="1" dirty="0">
                <a:solidFill>
                  <a:srgbClr val="1E3A5F"/>
                </a:solidFill>
                <a:latin typeface="Calibri" pitchFamily="34" charset="0"/>
                <a:ea typeface="Calibri" pitchFamily="34" charset="-122"/>
                <a:cs typeface="Calibri" pitchFamily="34" charset="-120"/>
              </a:rPr>
              <a:t>Ġthinks</a:t>
            </a:r>
            <a:endParaRPr lang="en-US" sz="1200" dirty="0"/>
          </a:p>
        </p:txBody>
      </p:sp>
      <p:sp>
        <p:nvSpPr>
          <p:cNvPr id="16" name="Shape 14"/>
          <p:cNvSpPr/>
          <p:nvPr/>
        </p:nvSpPr>
        <p:spPr>
          <a:xfrm>
            <a:off x="6400800" y="2926080"/>
            <a:ext cx="1645920" cy="365760"/>
          </a:xfrm>
          <a:prstGeom prst="roundRect">
            <a:avLst>
              <a:gd name="adj" fmla="val 12500"/>
            </a:avLst>
          </a:prstGeom>
          <a:solidFill>
            <a:srgbClr val="E8F1F8"/>
          </a:solidFill>
          <a:ln w="12700">
            <a:solidFill>
              <a:srgbClr val="0EA5E9"/>
            </a:solidFill>
            <a:prstDash val="solid"/>
          </a:ln>
        </p:spPr>
        <p:txBody>
          <a:bodyPr/>
          <a:lstStyle/>
          <a:p>
            <a:endParaRPr lang="en-US"/>
          </a:p>
        </p:txBody>
      </p:sp>
      <p:sp>
        <p:nvSpPr>
          <p:cNvPr id="17" name="Text 15"/>
          <p:cNvSpPr/>
          <p:nvPr/>
        </p:nvSpPr>
        <p:spPr>
          <a:xfrm>
            <a:off x="6400800" y="2944368"/>
            <a:ext cx="1645920" cy="137160"/>
          </a:xfrm>
          <a:prstGeom prst="rect">
            <a:avLst/>
          </a:prstGeom>
          <a:noFill/>
          <a:ln/>
        </p:spPr>
        <p:txBody>
          <a:bodyPr wrap="square" rtlCol="0" anchor="ctr"/>
          <a:lstStyle/>
          <a:p>
            <a:pPr marL="0" indent="0" algn="ctr">
              <a:buNone/>
            </a:pPr>
            <a:r>
              <a:rPr lang="en-US" sz="1000" b="1" dirty="0">
                <a:solidFill>
                  <a:srgbClr val="0EA5E9"/>
                </a:solidFill>
                <a:latin typeface="Arial" pitchFamily="34" charset="0"/>
                <a:ea typeface="Arial" pitchFamily="34" charset="-122"/>
                <a:cs typeface="Arial" pitchFamily="34" charset="-120"/>
              </a:rPr>
              <a:t>Token 4</a:t>
            </a:r>
            <a:endParaRPr lang="en-US" sz="1000" dirty="0"/>
          </a:p>
        </p:txBody>
      </p:sp>
      <p:sp>
        <p:nvSpPr>
          <p:cNvPr id="18" name="Text 16"/>
          <p:cNvSpPr/>
          <p:nvPr/>
        </p:nvSpPr>
        <p:spPr>
          <a:xfrm>
            <a:off x="6400800" y="3090672"/>
            <a:ext cx="1645920" cy="164592"/>
          </a:xfrm>
          <a:prstGeom prst="rect">
            <a:avLst/>
          </a:prstGeom>
          <a:noFill/>
          <a:ln/>
        </p:spPr>
        <p:txBody>
          <a:bodyPr wrap="square" rtlCol="0" anchor="ctr"/>
          <a:lstStyle/>
          <a:p>
            <a:pPr marL="0" indent="0" algn="ctr">
              <a:buNone/>
            </a:pPr>
            <a:r>
              <a:rPr lang="en-US" sz="1200" b="1" dirty="0">
                <a:solidFill>
                  <a:srgbClr val="1E3A5F"/>
                </a:solidFill>
                <a:latin typeface="Calibri" pitchFamily="34" charset="0"/>
                <a:ea typeface="Calibri" pitchFamily="34" charset="-122"/>
                <a:cs typeface="Calibri" pitchFamily="34" charset="-120"/>
              </a:rPr>
              <a:t>.</a:t>
            </a:r>
            <a:endParaRPr lang="en-US" sz="1200" dirty="0"/>
          </a:p>
        </p:txBody>
      </p:sp>
      <p:sp>
        <p:nvSpPr>
          <p:cNvPr id="19" name="Text 17"/>
          <p:cNvSpPr/>
          <p:nvPr/>
        </p:nvSpPr>
        <p:spPr>
          <a:xfrm>
            <a:off x="457200" y="3566160"/>
            <a:ext cx="8229600" cy="228600"/>
          </a:xfrm>
          <a:prstGeom prst="rect">
            <a:avLst/>
          </a:prstGeom>
          <a:noFill/>
          <a:ln/>
        </p:spPr>
        <p:txBody>
          <a:bodyPr wrap="square" rtlCol="0" anchor="ctr"/>
          <a:lstStyle/>
          <a:p>
            <a:pPr marL="0" indent="0">
              <a:buNone/>
            </a:pPr>
            <a:r>
              <a:rPr lang="en-US" sz="1600" b="1" dirty="0">
                <a:solidFill>
                  <a:srgbClr val="1E3A5F"/>
                </a:solidFill>
                <a:latin typeface="Arial" pitchFamily="34" charset="0"/>
                <a:ea typeface="Arial" pitchFamily="34" charset="-122"/>
                <a:cs typeface="Arial" pitchFamily="34" charset="-120"/>
              </a:rPr>
              <a:t>Why This Matters</a:t>
            </a:r>
            <a:endParaRPr lang="en-US" sz="1600" dirty="0"/>
          </a:p>
        </p:txBody>
      </p:sp>
      <p:sp>
        <p:nvSpPr>
          <p:cNvPr id="20" name="Text 18"/>
          <p:cNvSpPr/>
          <p:nvPr/>
        </p:nvSpPr>
        <p:spPr>
          <a:xfrm>
            <a:off x="640080" y="3886200"/>
            <a:ext cx="7863840" cy="1005840"/>
          </a:xfrm>
          <a:prstGeom prst="rect">
            <a:avLst/>
          </a:prstGeom>
          <a:noFill/>
          <a:ln/>
        </p:spPr>
        <p:txBody>
          <a:bodyPr wrap="square" rtlCol="0" anchor="t"/>
          <a:lstStyle/>
          <a:p>
            <a:pPr marL="342900" indent="-342900" algn="l">
              <a:buSzPct val="100000"/>
              <a:buChar char="•"/>
            </a:pPr>
            <a:r>
              <a:rPr lang="en-US" sz="1600" dirty="0">
                <a:solidFill>
                  <a:srgbClr val="3F3F3F"/>
                </a:solidFill>
                <a:latin typeface="Calibri" pitchFamily="34" charset="0"/>
                <a:ea typeface="Calibri" pitchFamily="34" charset="-122"/>
                <a:cs typeface="Calibri" pitchFamily="34" charset="-120"/>
              </a:rPr>
              <a:t>Cost is based on tokens, not words — "don't" costs 1 token, but different systems break it differently</a:t>
            </a:r>
            <a:endParaRPr lang="en-US" sz="1600" dirty="0"/>
          </a:p>
          <a:p>
            <a:pPr marL="342900" indent="-342900" algn="l">
              <a:buSzPct val="100000"/>
              <a:buChar char="•"/>
            </a:pPr>
            <a:r>
              <a:rPr lang="en-US" sz="1600" dirty="0">
                <a:solidFill>
                  <a:srgbClr val="3F3F3F"/>
                </a:solidFill>
                <a:latin typeface="Calibri" pitchFamily="34" charset="0"/>
                <a:ea typeface="Calibri" pitchFamily="34" charset="-122"/>
                <a:cs typeface="Calibri" pitchFamily="34" charset="-120"/>
              </a:rPr>
              <a:t>Token count affects context window — how much text you can feed the model at once</a:t>
            </a:r>
            <a:endParaRPr lang="en-US" sz="1600" dirty="0"/>
          </a:p>
          <a:p>
            <a:pPr marL="342900" indent="-342900" algn="l">
              <a:buSzPct val="100000"/>
              <a:buChar char="•"/>
            </a:pPr>
            <a:r>
              <a:rPr lang="en-US" sz="1600" dirty="0">
                <a:solidFill>
                  <a:srgbClr val="3F3F3F"/>
                </a:solidFill>
                <a:latin typeface="Calibri" pitchFamily="34" charset="0"/>
                <a:ea typeface="Calibri" pitchFamily="34" charset="-122"/>
                <a:cs typeface="Calibri" pitchFamily="34" charset="-120"/>
              </a:rPr>
              <a:t>Unusual words/names cost more tokens — a rare name might be 2-3 tokens instead of 1</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57200"/>
            <a:ext cx="8229600" cy="731520"/>
          </a:xfrm>
          <a:prstGeom prst="rect">
            <a:avLst/>
          </a:prstGeom>
          <a:noFill/>
          <a:ln/>
        </p:spPr>
        <p:txBody>
          <a:bodyPr wrap="square" lIns="0" tIns="0" rIns="0" bIns="0" rtlCol="0" anchor="ctr"/>
          <a:lstStyle/>
          <a:p>
            <a:pPr marL="0" indent="0" algn="l">
              <a:buNone/>
            </a:pPr>
            <a:r>
              <a:rPr lang="en-US" sz="4400" b="1" dirty="0">
                <a:solidFill>
                  <a:srgbClr val="1E3A5F"/>
                </a:solidFill>
                <a:latin typeface="Arial" pitchFamily="34" charset="0"/>
                <a:ea typeface="Arial" pitchFamily="34" charset="-122"/>
                <a:cs typeface="Arial" pitchFamily="34" charset="-120"/>
              </a:rPr>
              <a:t>Transformers Architecture (Conceptually)</a:t>
            </a:r>
            <a:endParaRPr lang="en-US" sz="4400" dirty="0"/>
          </a:p>
        </p:txBody>
      </p:sp>
      <p:sp>
        <p:nvSpPr>
          <p:cNvPr id="3" name="Text 1"/>
          <p:cNvSpPr/>
          <p:nvPr/>
        </p:nvSpPr>
        <p:spPr>
          <a:xfrm>
            <a:off x="4572000" y="1214051"/>
            <a:ext cx="3931920" cy="228600"/>
          </a:xfrm>
          <a:prstGeom prst="rect">
            <a:avLst/>
          </a:prstGeom>
          <a:noFill/>
          <a:ln/>
        </p:spPr>
        <p:txBody>
          <a:bodyPr wrap="square" rtlCol="0" anchor="ctr"/>
          <a:lstStyle/>
          <a:p>
            <a:pPr marL="0" indent="0">
              <a:buNone/>
            </a:pPr>
            <a:r>
              <a:rPr lang="en-US" sz="1400" b="1" dirty="0">
                <a:solidFill>
                  <a:srgbClr val="1E3A5F"/>
                </a:solidFill>
                <a:latin typeface="Arial" pitchFamily="34" charset="0"/>
                <a:ea typeface="Arial" pitchFamily="34" charset="-122"/>
                <a:cs typeface="Arial" pitchFamily="34" charset="-120"/>
              </a:rPr>
              <a:t>How a Transformer Processes Your Prompt</a:t>
            </a:r>
            <a:endParaRPr lang="en-US" sz="1400" dirty="0"/>
          </a:p>
        </p:txBody>
      </p:sp>
      <p:sp>
        <p:nvSpPr>
          <p:cNvPr id="4" name="Shape 2"/>
          <p:cNvSpPr/>
          <p:nvPr/>
        </p:nvSpPr>
        <p:spPr>
          <a:xfrm>
            <a:off x="457200" y="1645920"/>
            <a:ext cx="1828800" cy="1097280"/>
          </a:xfrm>
          <a:prstGeom prst="roundRect">
            <a:avLst>
              <a:gd name="adj" fmla="val 6667"/>
            </a:avLst>
          </a:prstGeom>
          <a:solidFill>
            <a:srgbClr val="E8F1F8"/>
          </a:solidFill>
          <a:ln w="25400">
            <a:solidFill>
              <a:srgbClr val="2E5090"/>
            </a:solidFill>
            <a:prstDash val="solid"/>
          </a:ln>
        </p:spPr>
        <p:txBody>
          <a:bodyPr/>
          <a:lstStyle/>
          <a:p>
            <a:endParaRPr lang="en-US"/>
          </a:p>
        </p:txBody>
      </p:sp>
      <p:sp>
        <p:nvSpPr>
          <p:cNvPr id="5" name="Text 3"/>
          <p:cNvSpPr/>
          <p:nvPr/>
        </p:nvSpPr>
        <p:spPr>
          <a:xfrm>
            <a:off x="548640" y="1783080"/>
            <a:ext cx="1645920" cy="365760"/>
          </a:xfrm>
          <a:prstGeom prst="rect">
            <a:avLst/>
          </a:prstGeom>
          <a:noFill/>
          <a:ln/>
        </p:spPr>
        <p:txBody>
          <a:bodyPr wrap="square" rtlCol="0" anchor="ctr"/>
          <a:lstStyle/>
          <a:p>
            <a:pPr marL="0" indent="0" algn="ctr">
              <a:buNone/>
            </a:pPr>
            <a:r>
              <a:rPr lang="en-US" sz="1200" b="1" dirty="0">
                <a:solidFill>
                  <a:srgbClr val="2E5090"/>
                </a:solidFill>
                <a:latin typeface="Arial" pitchFamily="34" charset="0"/>
                <a:ea typeface="Arial" pitchFamily="34" charset="-122"/>
                <a:cs typeface="Arial" pitchFamily="34" charset="-120"/>
              </a:rPr>
              <a:t>Input</a:t>
            </a:r>
            <a:endParaRPr lang="en-US" sz="1200" dirty="0"/>
          </a:p>
          <a:p>
            <a:pPr marL="0" indent="0" algn="ctr">
              <a:buNone/>
            </a:pPr>
            <a:r>
              <a:rPr lang="en-US" sz="1200" b="1" dirty="0">
                <a:solidFill>
                  <a:srgbClr val="2E5090"/>
                </a:solidFill>
                <a:latin typeface="Arial" pitchFamily="34" charset="0"/>
                <a:ea typeface="Arial" pitchFamily="34" charset="-122"/>
                <a:cs typeface="Arial" pitchFamily="34" charset="-120"/>
              </a:rPr>
              <a:t>Tokens</a:t>
            </a:r>
            <a:endParaRPr lang="en-US" sz="1200" dirty="0"/>
          </a:p>
        </p:txBody>
      </p:sp>
      <p:sp>
        <p:nvSpPr>
          <p:cNvPr id="6" name="Text 4"/>
          <p:cNvSpPr/>
          <p:nvPr/>
        </p:nvSpPr>
        <p:spPr>
          <a:xfrm>
            <a:off x="548640" y="2148840"/>
            <a:ext cx="1645920" cy="502920"/>
          </a:xfrm>
          <a:prstGeom prst="rect">
            <a:avLst/>
          </a:prstGeom>
          <a:noFill/>
          <a:ln/>
        </p:spPr>
        <p:txBody>
          <a:bodyPr wrap="square" rtlCol="0" anchor="t"/>
          <a:lstStyle/>
          <a:p>
            <a:pPr marL="0" indent="0" algn="ctr">
              <a:buNone/>
            </a:pPr>
            <a:r>
              <a:rPr lang="en-US" sz="1100" dirty="0">
                <a:solidFill>
                  <a:srgbClr val="3F3F3F"/>
                </a:solidFill>
                <a:latin typeface="Calibri" pitchFamily="34" charset="0"/>
                <a:ea typeface="Calibri" pitchFamily="34" charset="-122"/>
                <a:cs typeface="Calibri" pitchFamily="34" charset="-120"/>
              </a:rPr>
              <a:t>Your prompt</a:t>
            </a:r>
            <a:endParaRPr lang="en-US" sz="1100" dirty="0"/>
          </a:p>
          <a:p>
            <a:pPr marL="0" indent="0" algn="ctr">
              <a:buNone/>
            </a:pPr>
            <a:r>
              <a:rPr lang="en-US" sz="1100" dirty="0">
                <a:solidFill>
                  <a:srgbClr val="3F3F3F"/>
                </a:solidFill>
                <a:latin typeface="Calibri" pitchFamily="34" charset="0"/>
                <a:ea typeface="Calibri" pitchFamily="34" charset="-122"/>
                <a:cs typeface="Calibri" pitchFamily="34" charset="-120"/>
              </a:rPr>
              <a:t>tokenized</a:t>
            </a:r>
            <a:endParaRPr lang="en-US" sz="1100" dirty="0"/>
          </a:p>
        </p:txBody>
      </p:sp>
      <p:sp>
        <p:nvSpPr>
          <p:cNvPr id="7" name="Shape 5"/>
          <p:cNvSpPr/>
          <p:nvPr/>
        </p:nvSpPr>
        <p:spPr>
          <a:xfrm>
            <a:off x="2331720" y="2148840"/>
            <a:ext cx="365760" cy="91440"/>
          </a:xfrm>
          <a:prstGeom prst="rect">
            <a:avLst/>
          </a:prstGeom>
          <a:solidFill>
            <a:srgbClr val="0EA5E9"/>
          </a:solidFill>
          <a:ln/>
        </p:spPr>
        <p:txBody>
          <a:bodyPr/>
          <a:lstStyle/>
          <a:p>
            <a:endParaRPr lang="en-US"/>
          </a:p>
        </p:txBody>
      </p:sp>
      <p:sp>
        <p:nvSpPr>
          <p:cNvPr id="8" name="Text 6"/>
          <p:cNvSpPr/>
          <p:nvPr/>
        </p:nvSpPr>
        <p:spPr>
          <a:xfrm>
            <a:off x="2286000" y="2103120"/>
            <a:ext cx="457200" cy="182880"/>
          </a:xfrm>
          <a:prstGeom prst="rect">
            <a:avLst/>
          </a:prstGeom>
          <a:noFill/>
          <a:ln/>
        </p:spPr>
        <p:txBody>
          <a:bodyPr wrap="square" rtlCol="0" anchor="ctr"/>
          <a:lstStyle/>
          <a:p>
            <a:pPr marL="0" indent="0" algn="ctr">
              <a:buNone/>
            </a:pPr>
            <a:r>
              <a:rPr lang="en-US" sz="1600" dirty="0">
                <a:solidFill>
                  <a:srgbClr val="0EA5E9"/>
                </a:solidFill>
                <a:latin typeface="Arial" pitchFamily="34" charset="0"/>
                <a:ea typeface="Arial" pitchFamily="34" charset="-122"/>
                <a:cs typeface="Arial" pitchFamily="34" charset="-120"/>
              </a:rPr>
              <a:t>→</a:t>
            </a:r>
            <a:endParaRPr lang="en-US" sz="1600" dirty="0"/>
          </a:p>
        </p:txBody>
      </p:sp>
      <p:sp>
        <p:nvSpPr>
          <p:cNvPr id="9" name="Shape 7"/>
          <p:cNvSpPr/>
          <p:nvPr/>
        </p:nvSpPr>
        <p:spPr>
          <a:xfrm>
            <a:off x="2514600" y="1645920"/>
            <a:ext cx="1828800" cy="1097280"/>
          </a:xfrm>
          <a:prstGeom prst="roundRect">
            <a:avLst>
              <a:gd name="adj" fmla="val 6667"/>
            </a:avLst>
          </a:prstGeom>
          <a:solidFill>
            <a:srgbClr val="FFFFFF"/>
          </a:solidFill>
          <a:ln w="25400">
            <a:solidFill>
              <a:srgbClr val="2E5090"/>
            </a:solidFill>
            <a:prstDash val="solid"/>
          </a:ln>
        </p:spPr>
        <p:txBody>
          <a:bodyPr/>
          <a:lstStyle/>
          <a:p>
            <a:endParaRPr lang="en-US"/>
          </a:p>
        </p:txBody>
      </p:sp>
      <p:sp>
        <p:nvSpPr>
          <p:cNvPr id="10" name="Text 8"/>
          <p:cNvSpPr/>
          <p:nvPr/>
        </p:nvSpPr>
        <p:spPr>
          <a:xfrm>
            <a:off x="2606040" y="1783080"/>
            <a:ext cx="1645920" cy="365760"/>
          </a:xfrm>
          <a:prstGeom prst="rect">
            <a:avLst/>
          </a:prstGeom>
          <a:noFill/>
          <a:ln/>
        </p:spPr>
        <p:txBody>
          <a:bodyPr wrap="square" rtlCol="0" anchor="ctr"/>
          <a:lstStyle/>
          <a:p>
            <a:pPr marL="0" indent="0" algn="ctr">
              <a:buNone/>
            </a:pPr>
            <a:r>
              <a:rPr lang="en-US" sz="1200" b="1" dirty="0">
                <a:solidFill>
                  <a:srgbClr val="2E5090"/>
                </a:solidFill>
                <a:latin typeface="Arial" pitchFamily="34" charset="0"/>
                <a:ea typeface="Arial" pitchFamily="34" charset="-122"/>
                <a:cs typeface="Arial" pitchFamily="34" charset="-120"/>
              </a:rPr>
              <a:t>Embedding</a:t>
            </a:r>
            <a:endParaRPr lang="en-US" sz="1200" dirty="0"/>
          </a:p>
        </p:txBody>
      </p:sp>
      <p:sp>
        <p:nvSpPr>
          <p:cNvPr id="11" name="Text 9"/>
          <p:cNvSpPr/>
          <p:nvPr/>
        </p:nvSpPr>
        <p:spPr>
          <a:xfrm>
            <a:off x="2606040" y="2148840"/>
            <a:ext cx="1645920" cy="502920"/>
          </a:xfrm>
          <a:prstGeom prst="rect">
            <a:avLst/>
          </a:prstGeom>
          <a:noFill/>
          <a:ln/>
        </p:spPr>
        <p:txBody>
          <a:bodyPr wrap="square" rtlCol="0" anchor="t"/>
          <a:lstStyle/>
          <a:p>
            <a:pPr marL="0" indent="0" algn="ctr">
              <a:buNone/>
            </a:pPr>
            <a:r>
              <a:rPr lang="en-US" sz="1100" dirty="0">
                <a:solidFill>
                  <a:srgbClr val="3F3F3F"/>
                </a:solidFill>
                <a:latin typeface="Calibri" pitchFamily="34" charset="0"/>
                <a:ea typeface="Calibri" pitchFamily="34" charset="-122"/>
                <a:cs typeface="Calibri" pitchFamily="34" charset="-120"/>
              </a:rPr>
              <a:t>Convert tokens</a:t>
            </a:r>
            <a:endParaRPr lang="en-US" sz="1100" dirty="0"/>
          </a:p>
          <a:p>
            <a:pPr marL="0" indent="0" algn="ctr">
              <a:buNone/>
            </a:pPr>
            <a:r>
              <a:rPr lang="en-US" sz="1100" dirty="0">
                <a:solidFill>
                  <a:srgbClr val="3F3F3F"/>
                </a:solidFill>
                <a:latin typeface="Calibri" pitchFamily="34" charset="0"/>
                <a:ea typeface="Calibri" pitchFamily="34" charset="-122"/>
                <a:cs typeface="Calibri" pitchFamily="34" charset="-120"/>
              </a:rPr>
              <a:t>to vectors</a:t>
            </a:r>
            <a:endParaRPr lang="en-US" sz="1100" dirty="0"/>
          </a:p>
        </p:txBody>
      </p:sp>
      <p:sp>
        <p:nvSpPr>
          <p:cNvPr id="12" name="Shape 10"/>
          <p:cNvSpPr/>
          <p:nvPr/>
        </p:nvSpPr>
        <p:spPr>
          <a:xfrm>
            <a:off x="4389120" y="2148840"/>
            <a:ext cx="365760" cy="91440"/>
          </a:xfrm>
          <a:prstGeom prst="rect">
            <a:avLst/>
          </a:prstGeom>
          <a:solidFill>
            <a:srgbClr val="0EA5E9"/>
          </a:solidFill>
          <a:ln/>
        </p:spPr>
        <p:txBody>
          <a:bodyPr/>
          <a:lstStyle/>
          <a:p>
            <a:endParaRPr lang="en-US"/>
          </a:p>
        </p:txBody>
      </p:sp>
      <p:sp>
        <p:nvSpPr>
          <p:cNvPr id="13" name="Text 11"/>
          <p:cNvSpPr/>
          <p:nvPr/>
        </p:nvSpPr>
        <p:spPr>
          <a:xfrm>
            <a:off x="4343400" y="2103120"/>
            <a:ext cx="457200" cy="182880"/>
          </a:xfrm>
          <a:prstGeom prst="rect">
            <a:avLst/>
          </a:prstGeom>
          <a:noFill/>
          <a:ln/>
        </p:spPr>
        <p:txBody>
          <a:bodyPr wrap="square" rtlCol="0" anchor="ctr"/>
          <a:lstStyle/>
          <a:p>
            <a:pPr marL="0" indent="0" algn="ctr">
              <a:buNone/>
            </a:pPr>
            <a:r>
              <a:rPr lang="en-US" sz="1600" dirty="0">
                <a:solidFill>
                  <a:srgbClr val="0EA5E9"/>
                </a:solidFill>
                <a:latin typeface="Arial" pitchFamily="34" charset="0"/>
                <a:ea typeface="Arial" pitchFamily="34" charset="-122"/>
                <a:cs typeface="Arial" pitchFamily="34" charset="-120"/>
              </a:rPr>
              <a:t>→</a:t>
            </a:r>
            <a:endParaRPr lang="en-US" sz="1600" dirty="0"/>
          </a:p>
        </p:txBody>
      </p:sp>
      <p:sp>
        <p:nvSpPr>
          <p:cNvPr id="14" name="Shape 12"/>
          <p:cNvSpPr/>
          <p:nvPr/>
        </p:nvSpPr>
        <p:spPr>
          <a:xfrm>
            <a:off x="4572000" y="1645920"/>
            <a:ext cx="1828800" cy="1097280"/>
          </a:xfrm>
          <a:prstGeom prst="roundRect">
            <a:avLst>
              <a:gd name="adj" fmla="val 6667"/>
            </a:avLst>
          </a:prstGeom>
          <a:solidFill>
            <a:srgbClr val="E8F1F8"/>
          </a:solidFill>
          <a:ln w="25400">
            <a:solidFill>
              <a:srgbClr val="2E5090"/>
            </a:solidFill>
            <a:prstDash val="solid"/>
          </a:ln>
        </p:spPr>
        <p:txBody>
          <a:bodyPr/>
          <a:lstStyle/>
          <a:p>
            <a:endParaRPr lang="en-US"/>
          </a:p>
        </p:txBody>
      </p:sp>
      <p:sp>
        <p:nvSpPr>
          <p:cNvPr id="15" name="Text 13"/>
          <p:cNvSpPr/>
          <p:nvPr/>
        </p:nvSpPr>
        <p:spPr>
          <a:xfrm>
            <a:off x="4663440" y="1783080"/>
            <a:ext cx="1645920" cy="365760"/>
          </a:xfrm>
          <a:prstGeom prst="rect">
            <a:avLst/>
          </a:prstGeom>
          <a:noFill/>
          <a:ln/>
        </p:spPr>
        <p:txBody>
          <a:bodyPr wrap="square" rtlCol="0" anchor="ctr"/>
          <a:lstStyle/>
          <a:p>
            <a:pPr marL="0" indent="0" algn="ctr">
              <a:buNone/>
            </a:pPr>
            <a:r>
              <a:rPr lang="en-US" sz="1200" b="1" dirty="0">
                <a:solidFill>
                  <a:srgbClr val="2E5090"/>
                </a:solidFill>
                <a:latin typeface="Arial" pitchFamily="34" charset="0"/>
                <a:ea typeface="Arial" pitchFamily="34" charset="-122"/>
                <a:cs typeface="Arial" pitchFamily="34" charset="-120"/>
              </a:rPr>
              <a:t>Attention</a:t>
            </a:r>
            <a:endParaRPr lang="en-US" sz="1200" dirty="0"/>
          </a:p>
          <a:p>
            <a:pPr marL="0" indent="0" algn="ctr">
              <a:buNone/>
            </a:pPr>
            <a:r>
              <a:rPr lang="en-US" sz="1200" b="1" dirty="0">
                <a:solidFill>
                  <a:srgbClr val="2E5090"/>
                </a:solidFill>
                <a:latin typeface="Arial" pitchFamily="34" charset="0"/>
                <a:ea typeface="Arial" pitchFamily="34" charset="-122"/>
                <a:cs typeface="Arial" pitchFamily="34" charset="-120"/>
              </a:rPr>
              <a:t>Layers</a:t>
            </a:r>
            <a:endParaRPr lang="en-US" sz="1200" dirty="0"/>
          </a:p>
        </p:txBody>
      </p:sp>
      <p:sp>
        <p:nvSpPr>
          <p:cNvPr id="16" name="Text 14"/>
          <p:cNvSpPr/>
          <p:nvPr/>
        </p:nvSpPr>
        <p:spPr>
          <a:xfrm>
            <a:off x="4663440" y="2148840"/>
            <a:ext cx="1645920" cy="502920"/>
          </a:xfrm>
          <a:prstGeom prst="rect">
            <a:avLst/>
          </a:prstGeom>
          <a:noFill/>
          <a:ln/>
        </p:spPr>
        <p:txBody>
          <a:bodyPr wrap="square" rtlCol="0" anchor="t"/>
          <a:lstStyle/>
          <a:p>
            <a:pPr marL="0" indent="0" algn="ctr">
              <a:buNone/>
            </a:pPr>
            <a:r>
              <a:rPr lang="en-US" sz="1100" dirty="0">
                <a:solidFill>
                  <a:srgbClr val="3F3F3F"/>
                </a:solidFill>
                <a:latin typeface="Calibri" pitchFamily="34" charset="0"/>
                <a:ea typeface="Calibri" pitchFamily="34" charset="-122"/>
                <a:cs typeface="Calibri" pitchFamily="34" charset="-120"/>
              </a:rPr>
              <a:t>Understand</a:t>
            </a:r>
            <a:endParaRPr lang="en-US" sz="1100" dirty="0"/>
          </a:p>
          <a:p>
            <a:pPr marL="0" indent="0" algn="ctr">
              <a:buNone/>
            </a:pPr>
            <a:r>
              <a:rPr lang="en-US" sz="1100" dirty="0">
                <a:solidFill>
                  <a:srgbClr val="3F3F3F"/>
                </a:solidFill>
                <a:latin typeface="Calibri" pitchFamily="34" charset="0"/>
                <a:ea typeface="Calibri" pitchFamily="34" charset="-122"/>
                <a:cs typeface="Calibri" pitchFamily="34" charset="-120"/>
              </a:rPr>
              <a:t>relationships</a:t>
            </a:r>
            <a:endParaRPr lang="en-US" sz="1100" dirty="0"/>
          </a:p>
        </p:txBody>
      </p:sp>
      <p:sp>
        <p:nvSpPr>
          <p:cNvPr id="17" name="Shape 15"/>
          <p:cNvSpPr/>
          <p:nvPr/>
        </p:nvSpPr>
        <p:spPr>
          <a:xfrm>
            <a:off x="6446520" y="2148840"/>
            <a:ext cx="365760" cy="91440"/>
          </a:xfrm>
          <a:prstGeom prst="rect">
            <a:avLst/>
          </a:prstGeom>
          <a:solidFill>
            <a:srgbClr val="0EA5E9"/>
          </a:solidFill>
          <a:ln/>
        </p:spPr>
        <p:txBody>
          <a:bodyPr/>
          <a:lstStyle/>
          <a:p>
            <a:endParaRPr lang="en-US"/>
          </a:p>
        </p:txBody>
      </p:sp>
      <p:sp>
        <p:nvSpPr>
          <p:cNvPr id="18" name="Text 16"/>
          <p:cNvSpPr/>
          <p:nvPr/>
        </p:nvSpPr>
        <p:spPr>
          <a:xfrm>
            <a:off x="6400800" y="2103120"/>
            <a:ext cx="457200" cy="182880"/>
          </a:xfrm>
          <a:prstGeom prst="rect">
            <a:avLst/>
          </a:prstGeom>
          <a:noFill/>
          <a:ln/>
        </p:spPr>
        <p:txBody>
          <a:bodyPr wrap="square" rtlCol="0" anchor="ctr"/>
          <a:lstStyle/>
          <a:p>
            <a:pPr marL="0" indent="0" algn="ctr">
              <a:buNone/>
            </a:pPr>
            <a:r>
              <a:rPr lang="en-US" sz="1600" dirty="0">
                <a:solidFill>
                  <a:srgbClr val="0EA5E9"/>
                </a:solidFill>
                <a:latin typeface="Arial" pitchFamily="34" charset="0"/>
                <a:ea typeface="Arial" pitchFamily="34" charset="-122"/>
                <a:cs typeface="Arial" pitchFamily="34" charset="-120"/>
              </a:rPr>
              <a:t>→</a:t>
            </a:r>
            <a:endParaRPr lang="en-US" sz="1600" dirty="0"/>
          </a:p>
        </p:txBody>
      </p:sp>
      <p:sp>
        <p:nvSpPr>
          <p:cNvPr id="19" name="Shape 17"/>
          <p:cNvSpPr/>
          <p:nvPr/>
        </p:nvSpPr>
        <p:spPr>
          <a:xfrm>
            <a:off x="6629400" y="1645920"/>
            <a:ext cx="1828800" cy="1097280"/>
          </a:xfrm>
          <a:prstGeom prst="roundRect">
            <a:avLst>
              <a:gd name="adj" fmla="val 6667"/>
            </a:avLst>
          </a:prstGeom>
          <a:solidFill>
            <a:srgbClr val="FFFFFF"/>
          </a:solidFill>
          <a:ln w="25400">
            <a:solidFill>
              <a:srgbClr val="2E5090"/>
            </a:solidFill>
            <a:prstDash val="solid"/>
          </a:ln>
        </p:spPr>
        <p:txBody>
          <a:bodyPr/>
          <a:lstStyle/>
          <a:p>
            <a:endParaRPr lang="en-US"/>
          </a:p>
        </p:txBody>
      </p:sp>
      <p:sp>
        <p:nvSpPr>
          <p:cNvPr id="20" name="Text 18"/>
          <p:cNvSpPr/>
          <p:nvPr/>
        </p:nvSpPr>
        <p:spPr>
          <a:xfrm>
            <a:off x="6720840" y="1783080"/>
            <a:ext cx="1645920" cy="365760"/>
          </a:xfrm>
          <a:prstGeom prst="rect">
            <a:avLst/>
          </a:prstGeom>
          <a:noFill/>
          <a:ln/>
        </p:spPr>
        <p:txBody>
          <a:bodyPr wrap="square" rtlCol="0" anchor="ctr"/>
          <a:lstStyle/>
          <a:p>
            <a:pPr marL="0" indent="0" algn="ctr">
              <a:buNone/>
            </a:pPr>
            <a:r>
              <a:rPr lang="en-US" sz="1200" b="1" dirty="0">
                <a:solidFill>
                  <a:srgbClr val="2E5090"/>
                </a:solidFill>
                <a:latin typeface="Arial" pitchFamily="34" charset="0"/>
                <a:ea typeface="Arial" pitchFamily="34" charset="-122"/>
                <a:cs typeface="Arial" pitchFamily="34" charset="-120"/>
              </a:rPr>
              <a:t>Output</a:t>
            </a:r>
            <a:endParaRPr lang="en-US" sz="1200" dirty="0"/>
          </a:p>
          <a:p>
            <a:pPr marL="0" indent="0" algn="ctr">
              <a:buNone/>
            </a:pPr>
            <a:r>
              <a:rPr lang="en-US" sz="1200" b="1" dirty="0">
                <a:solidFill>
                  <a:srgbClr val="2E5090"/>
                </a:solidFill>
                <a:latin typeface="Arial" pitchFamily="34" charset="0"/>
                <a:ea typeface="Arial" pitchFamily="34" charset="-122"/>
                <a:cs typeface="Arial" pitchFamily="34" charset="-120"/>
              </a:rPr>
              <a:t>Layer</a:t>
            </a:r>
            <a:endParaRPr lang="en-US" sz="1200" dirty="0"/>
          </a:p>
        </p:txBody>
      </p:sp>
      <p:sp>
        <p:nvSpPr>
          <p:cNvPr id="21" name="Text 19"/>
          <p:cNvSpPr/>
          <p:nvPr/>
        </p:nvSpPr>
        <p:spPr>
          <a:xfrm>
            <a:off x="6720840" y="2148840"/>
            <a:ext cx="1645920" cy="502920"/>
          </a:xfrm>
          <a:prstGeom prst="rect">
            <a:avLst/>
          </a:prstGeom>
          <a:noFill/>
          <a:ln/>
        </p:spPr>
        <p:txBody>
          <a:bodyPr wrap="square" rtlCol="0" anchor="t"/>
          <a:lstStyle/>
          <a:p>
            <a:pPr marL="0" indent="0" algn="ctr">
              <a:buNone/>
            </a:pPr>
            <a:r>
              <a:rPr lang="en-US" sz="1100" dirty="0">
                <a:solidFill>
                  <a:srgbClr val="3F3F3F"/>
                </a:solidFill>
                <a:latin typeface="Calibri" pitchFamily="34" charset="0"/>
                <a:ea typeface="Calibri" pitchFamily="34" charset="-122"/>
                <a:cs typeface="Calibri" pitchFamily="34" charset="-120"/>
              </a:rPr>
              <a:t>Predict next</a:t>
            </a:r>
            <a:endParaRPr lang="en-US" sz="1100" dirty="0"/>
          </a:p>
          <a:p>
            <a:pPr marL="0" indent="0" algn="ctr">
              <a:buNone/>
            </a:pPr>
            <a:r>
              <a:rPr lang="en-US" sz="1100" dirty="0">
                <a:solidFill>
                  <a:srgbClr val="3F3F3F"/>
                </a:solidFill>
                <a:latin typeface="Calibri" pitchFamily="34" charset="0"/>
                <a:ea typeface="Calibri" pitchFamily="34" charset="-122"/>
                <a:cs typeface="Calibri" pitchFamily="34" charset="-120"/>
              </a:rPr>
              <a:t>token</a:t>
            </a:r>
            <a:endParaRPr lang="en-US" sz="1100" dirty="0"/>
          </a:p>
        </p:txBody>
      </p:sp>
      <p:sp>
        <p:nvSpPr>
          <p:cNvPr id="22" name="Text 20"/>
          <p:cNvSpPr/>
          <p:nvPr/>
        </p:nvSpPr>
        <p:spPr>
          <a:xfrm>
            <a:off x="457200" y="3200400"/>
            <a:ext cx="8229600" cy="228600"/>
          </a:xfrm>
          <a:prstGeom prst="rect">
            <a:avLst/>
          </a:prstGeom>
          <a:noFill/>
          <a:ln/>
        </p:spPr>
        <p:txBody>
          <a:bodyPr wrap="square" rtlCol="0" anchor="ctr"/>
          <a:lstStyle/>
          <a:p>
            <a:pPr marL="0" indent="0">
              <a:buNone/>
            </a:pPr>
            <a:r>
              <a:rPr lang="en-US" sz="1600" b="1" dirty="0">
                <a:solidFill>
                  <a:srgbClr val="1E3A5F"/>
                </a:solidFill>
                <a:latin typeface="Arial" pitchFamily="34" charset="0"/>
                <a:ea typeface="Arial" pitchFamily="34" charset="-122"/>
                <a:cs typeface="Arial" pitchFamily="34" charset="-120"/>
              </a:rPr>
              <a:t>The 'Attention' Magic</a:t>
            </a:r>
            <a:endParaRPr lang="en-US" sz="1600" dirty="0"/>
          </a:p>
        </p:txBody>
      </p:sp>
      <p:sp>
        <p:nvSpPr>
          <p:cNvPr id="23" name="Text 21"/>
          <p:cNvSpPr/>
          <p:nvPr/>
        </p:nvSpPr>
        <p:spPr>
          <a:xfrm>
            <a:off x="457200" y="3520440"/>
            <a:ext cx="8229600" cy="731520"/>
          </a:xfrm>
          <a:prstGeom prst="rect">
            <a:avLst/>
          </a:prstGeom>
          <a:noFill/>
          <a:ln/>
        </p:spPr>
        <p:txBody>
          <a:bodyPr wrap="square" rtlCol="0" anchor="t"/>
          <a:lstStyle/>
          <a:p>
            <a:pPr marL="0" indent="0" algn="l">
              <a:buNone/>
            </a:pPr>
            <a:r>
              <a:rPr lang="en-US" sz="1600" dirty="0">
                <a:solidFill>
                  <a:srgbClr val="3F3F3F"/>
                </a:solidFill>
                <a:latin typeface="Calibri" pitchFamily="34" charset="0"/>
                <a:ea typeface="Calibri" pitchFamily="34" charset="-122"/>
                <a:cs typeface="Calibri" pitchFamily="34" charset="-120"/>
              </a:rPr>
              <a:t>The transformer uses 'attention' layers to understand which parts of your input are relevant to predicting each next token. In simple terms: it notices relationships between words, not just processing them one-by-one.</a:t>
            </a:r>
            <a:endParaRPr lang="en-US" sz="1600" dirty="0"/>
          </a:p>
        </p:txBody>
      </p:sp>
      <p:sp>
        <p:nvSpPr>
          <p:cNvPr id="24" name="Shape 22"/>
          <p:cNvSpPr/>
          <p:nvPr/>
        </p:nvSpPr>
        <p:spPr>
          <a:xfrm>
            <a:off x="457200" y="4389120"/>
            <a:ext cx="8229600" cy="685800"/>
          </a:xfrm>
          <a:prstGeom prst="rect">
            <a:avLst/>
          </a:prstGeom>
          <a:solidFill>
            <a:srgbClr val="F3F4F6"/>
          </a:solidFill>
          <a:ln/>
        </p:spPr>
        <p:txBody>
          <a:bodyPr/>
          <a:lstStyle/>
          <a:p>
            <a:endParaRPr lang="en-US"/>
          </a:p>
        </p:txBody>
      </p:sp>
      <p:sp>
        <p:nvSpPr>
          <p:cNvPr id="25" name="Text 23"/>
          <p:cNvSpPr/>
          <p:nvPr/>
        </p:nvSpPr>
        <p:spPr>
          <a:xfrm>
            <a:off x="640080" y="4480560"/>
            <a:ext cx="7863840" cy="502920"/>
          </a:xfrm>
          <a:prstGeom prst="rect">
            <a:avLst/>
          </a:prstGeom>
          <a:noFill/>
          <a:ln/>
        </p:spPr>
        <p:txBody>
          <a:bodyPr wrap="square" rtlCol="0" anchor="t"/>
          <a:lstStyle/>
          <a:p>
            <a:pPr marL="0" indent="0">
              <a:buNone/>
            </a:pPr>
            <a:r>
              <a:rPr lang="en-US" sz="1300" dirty="0">
                <a:solidFill>
                  <a:srgbClr val="3F3F3F"/>
                </a:solidFill>
                <a:latin typeface="Calibri" pitchFamily="34" charset="0"/>
                <a:ea typeface="Calibri" pitchFamily="34" charset="-122"/>
                <a:cs typeface="Calibri" pitchFamily="34" charset="-120"/>
              </a:rPr>
              <a:t>📌 This is why rephrasing a prompt can dramatically change output—different wording shifts which words the attention layers 'focus on,' changing predictions downstream.</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57200"/>
            <a:ext cx="8229600" cy="731520"/>
          </a:xfrm>
          <a:prstGeom prst="rect">
            <a:avLst/>
          </a:prstGeom>
          <a:noFill/>
          <a:ln/>
        </p:spPr>
        <p:txBody>
          <a:bodyPr wrap="square" lIns="0" tIns="0" rIns="0" bIns="0" rtlCol="0" anchor="ctr"/>
          <a:lstStyle/>
          <a:p>
            <a:pPr marL="0" indent="0" algn="l">
              <a:buNone/>
            </a:pPr>
            <a:r>
              <a:rPr lang="en-US" sz="4400" b="1" dirty="0">
                <a:solidFill>
                  <a:srgbClr val="1E3A5F"/>
                </a:solidFill>
                <a:latin typeface="Arial" pitchFamily="34" charset="0"/>
                <a:ea typeface="Arial" pitchFamily="34" charset="-122"/>
                <a:cs typeface="Arial" pitchFamily="34" charset="-120"/>
              </a:rPr>
              <a:t>Pretraining vs Fine-tuning</a:t>
            </a:r>
            <a:endParaRPr lang="en-US" sz="4400" dirty="0"/>
          </a:p>
        </p:txBody>
      </p:sp>
      <p:sp>
        <p:nvSpPr>
          <p:cNvPr id="3" name="Shape 1"/>
          <p:cNvSpPr/>
          <p:nvPr/>
        </p:nvSpPr>
        <p:spPr>
          <a:xfrm>
            <a:off x="457200" y="1188720"/>
            <a:ext cx="3840480" cy="3474720"/>
          </a:xfrm>
          <a:prstGeom prst="roundRect">
            <a:avLst>
              <a:gd name="adj" fmla="val 2632"/>
            </a:avLst>
          </a:prstGeom>
          <a:solidFill>
            <a:srgbClr val="E8F1F8"/>
          </a:solidFill>
          <a:ln w="25400">
            <a:solidFill>
              <a:srgbClr val="2E5090"/>
            </a:solidFill>
            <a:prstDash val="solid"/>
          </a:ln>
        </p:spPr>
        <p:txBody>
          <a:bodyPr/>
          <a:lstStyle/>
          <a:p>
            <a:endParaRPr lang="en-US"/>
          </a:p>
        </p:txBody>
      </p:sp>
      <p:sp>
        <p:nvSpPr>
          <p:cNvPr id="4" name="Text 2"/>
          <p:cNvSpPr/>
          <p:nvPr/>
        </p:nvSpPr>
        <p:spPr>
          <a:xfrm>
            <a:off x="640080" y="1371600"/>
            <a:ext cx="3474720" cy="274320"/>
          </a:xfrm>
          <a:prstGeom prst="rect">
            <a:avLst/>
          </a:prstGeom>
          <a:noFill/>
          <a:ln/>
        </p:spPr>
        <p:txBody>
          <a:bodyPr wrap="square" rtlCol="0" anchor="ctr"/>
          <a:lstStyle/>
          <a:p>
            <a:pPr marL="0" indent="0">
              <a:buNone/>
            </a:pPr>
            <a:r>
              <a:rPr lang="en-US" sz="1600" b="1" dirty="0">
                <a:solidFill>
                  <a:srgbClr val="1E3A5F"/>
                </a:solidFill>
                <a:latin typeface="Arial" pitchFamily="34" charset="0"/>
                <a:ea typeface="Arial" pitchFamily="34" charset="-122"/>
                <a:cs typeface="Arial" pitchFamily="34" charset="-120"/>
              </a:rPr>
              <a:t>Pretraining</a:t>
            </a:r>
            <a:endParaRPr lang="en-US" sz="1600" dirty="0"/>
          </a:p>
        </p:txBody>
      </p:sp>
      <p:sp>
        <p:nvSpPr>
          <p:cNvPr id="5" name="Text 3"/>
          <p:cNvSpPr/>
          <p:nvPr/>
        </p:nvSpPr>
        <p:spPr>
          <a:xfrm>
            <a:off x="822960" y="1828800"/>
            <a:ext cx="3108960" cy="2560320"/>
          </a:xfrm>
          <a:prstGeom prst="rect">
            <a:avLst/>
          </a:prstGeom>
          <a:noFill/>
          <a:ln/>
        </p:spPr>
        <p:txBody>
          <a:bodyPr wrap="square" rtlCol="0" anchor="t"/>
          <a:lstStyle/>
          <a:p>
            <a:pPr marL="342900" indent="-342900">
              <a:buSzPct val="100000"/>
              <a:buChar char="•"/>
            </a:pPr>
            <a:r>
              <a:rPr lang="en-US" sz="1200" dirty="0">
                <a:solidFill>
                  <a:srgbClr val="3F3F3F"/>
                </a:solidFill>
                <a:latin typeface="Calibri" pitchFamily="34" charset="0"/>
                <a:ea typeface="Calibri" pitchFamily="34" charset="-122"/>
                <a:cs typeface="Calibri" pitchFamily="34" charset="-120"/>
              </a:rPr>
              <a:t>Massive dataset: books, websites, code, etc.</a:t>
            </a:r>
            <a:endParaRPr lang="en-US" sz="1200" dirty="0"/>
          </a:p>
          <a:p>
            <a:pPr marL="342900" indent="-342900">
              <a:buSzPct val="100000"/>
              <a:buChar char="•"/>
            </a:pPr>
            <a:r>
              <a:rPr lang="en-US" sz="1200" dirty="0">
                <a:solidFill>
                  <a:srgbClr val="3F3F3F"/>
                </a:solidFill>
                <a:latin typeface="Calibri" pitchFamily="34" charset="0"/>
                <a:ea typeface="Calibri" pitchFamily="34" charset="-122"/>
                <a:cs typeface="Calibri" pitchFamily="34" charset="-120"/>
              </a:rPr>
              <a:t>Goal: Predict next token in any text</a:t>
            </a:r>
            <a:endParaRPr lang="en-US" sz="1200" dirty="0"/>
          </a:p>
          <a:p>
            <a:pPr marL="342900" indent="-342900">
              <a:buSzPct val="100000"/>
              <a:buChar char="•"/>
            </a:pPr>
            <a:r>
              <a:rPr lang="en-US" sz="1200" dirty="0">
                <a:solidFill>
                  <a:srgbClr val="3F3F3F"/>
                </a:solidFill>
                <a:latin typeface="Calibri" pitchFamily="34" charset="0"/>
                <a:ea typeface="Calibri" pitchFamily="34" charset="-122"/>
                <a:cs typeface="Calibri" pitchFamily="34" charset="-120"/>
              </a:rPr>
              <a:t>Billions of parameters learned</a:t>
            </a:r>
            <a:endParaRPr lang="en-US" sz="1200" dirty="0"/>
          </a:p>
          <a:p>
            <a:pPr marL="342900" indent="-342900">
              <a:buSzPct val="100000"/>
              <a:buChar char="•"/>
            </a:pPr>
            <a:r>
              <a:rPr lang="en-US" sz="1200" dirty="0">
                <a:solidFill>
                  <a:srgbClr val="3F3F3F"/>
                </a:solidFill>
                <a:latin typeface="Calibri" pitchFamily="34" charset="0"/>
                <a:ea typeface="Calibri" pitchFamily="34" charset="-122"/>
                <a:cs typeface="Calibri" pitchFamily="34" charset="-120"/>
              </a:rPr>
              <a:t>Very expensive &amp; time-consuming</a:t>
            </a:r>
            <a:endParaRPr lang="en-US" sz="1200" dirty="0"/>
          </a:p>
          <a:p>
            <a:pPr marL="342900" indent="-342900">
              <a:buSzPct val="100000"/>
              <a:buChar char="•"/>
            </a:pPr>
            <a:r>
              <a:rPr lang="en-US" sz="1200" dirty="0">
                <a:solidFill>
                  <a:srgbClr val="3F3F3F"/>
                </a:solidFill>
                <a:latin typeface="Calibri" pitchFamily="34" charset="0"/>
                <a:ea typeface="Calibri" pitchFamily="34" charset="-122"/>
                <a:cs typeface="Calibri" pitchFamily="34" charset="-120"/>
              </a:rPr>
              <a:t>Produces a 'foundation' model</a:t>
            </a:r>
            <a:endParaRPr lang="en-US" sz="1200" dirty="0"/>
          </a:p>
        </p:txBody>
      </p:sp>
      <p:sp>
        <p:nvSpPr>
          <p:cNvPr id="6" name="Shape 4"/>
          <p:cNvSpPr/>
          <p:nvPr/>
        </p:nvSpPr>
        <p:spPr>
          <a:xfrm>
            <a:off x="4846320" y="1188720"/>
            <a:ext cx="3840480" cy="3474720"/>
          </a:xfrm>
          <a:prstGeom prst="roundRect">
            <a:avLst>
              <a:gd name="adj" fmla="val 2632"/>
            </a:avLst>
          </a:prstGeom>
          <a:solidFill>
            <a:srgbClr val="FFFFFF"/>
          </a:solidFill>
          <a:ln w="25400">
            <a:solidFill>
              <a:srgbClr val="0EA5E9"/>
            </a:solidFill>
            <a:prstDash val="solid"/>
          </a:ln>
        </p:spPr>
        <p:txBody>
          <a:bodyPr/>
          <a:lstStyle/>
          <a:p>
            <a:endParaRPr lang="en-US"/>
          </a:p>
        </p:txBody>
      </p:sp>
      <p:sp>
        <p:nvSpPr>
          <p:cNvPr id="7" name="Text 5"/>
          <p:cNvSpPr/>
          <p:nvPr/>
        </p:nvSpPr>
        <p:spPr>
          <a:xfrm>
            <a:off x="5029200" y="1371600"/>
            <a:ext cx="3474720" cy="274320"/>
          </a:xfrm>
          <a:prstGeom prst="rect">
            <a:avLst/>
          </a:prstGeom>
          <a:noFill/>
          <a:ln/>
        </p:spPr>
        <p:txBody>
          <a:bodyPr wrap="square" rtlCol="0" anchor="ctr"/>
          <a:lstStyle/>
          <a:p>
            <a:pPr marL="0" indent="0">
              <a:buNone/>
            </a:pPr>
            <a:r>
              <a:rPr lang="en-US" sz="1600" b="1" dirty="0">
                <a:solidFill>
                  <a:srgbClr val="0EA5E9"/>
                </a:solidFill>
                <a:latin typeface="Arial" pitchFamily="34" charset="0"/>
                <a:ea typeface="Arial" pitchFamily="34" charset="-122"/>
                <a:cs typeface="Arial" pitchFamily="34" charset="-120"/>
              </a:rPr>
              <a:t>Fine-tuning</a:t>
            </a:r>
            <a:endParaRPr lang="en-US" sz="1600" dirty="0"/>
          </a:p>
        </p:txBody>
      </p:sp>
      <p:sp>
        <p:nvSpPr>
          <p:cNvPr id="8" name="Text 6"/>
          <p:cNvSpPr/>
          <p:nvPr/>
        </p:nvSpPr>
        <p:spPr>
          <a:xfrm>
            <a:off x="5029200" y="1828800"/>
            <a:ext cx="3291840" cy="2560320"/>
          </a:xfrm>
          <a:prstGeom prst="rect">
            <a:avLst/>
          </a:prstGeom>
          <a:noFill/>
          <a:ln/>
        </p:spPr>
        <p:txBody>
          <a:bodyPr wrap="square" rtlCol="0" anchor="t"/>
          <a:lstStyle/>
          <a:p>
            <a:pPr marL="342900" indent="-342900">
              <a:buSzPct val="100000"/>
              <a:buChar char="•"/>
            </a:pPr>
            <a:r>
              <a:rPr lang="en-US" sz="1200" dirty="0">
                <a:solidFill>
                  <a:srgbClr val="3F3F3F"/>
                </a:solidFill>
                <a:latin typeface="Calibri" pitchFamily="34" charset="0"/>
                <a:ea typeface="Calibri" pitchFamily="34" charset="-122"/>
                <a:cs typeface="Calibri" pitchFamily="34" charset="-120"/>
              </a:rPr>
              <a:t>Starts from pretrained model</a:t>
            </a:r>
            <a:endParaRPr lang="en-US" sz="1200" dirty="0"/>
          </a:p>
          <a:p>
            <a:pPr marL="342900" indent="-342900">
              <a:buSzPct val="100000"/>
              <a:buChar char="•"/>
            </a:pPr>
            <a:r>
              <a:rPr lang="en-US" sz="1200" dirty="0">
                <a:solidFill>
                  <a:srgbClr val="3F3F3F"/>
                </a:solidFill>
                <a:latin typeface="Calibri" pitchFamily="34" charset="0"/>
                <a:ea typeface="Calibri" pitchFamily="34" charset="-122"/>
                <a:cs typeface="Calibri" pitchFamily="34" charset="-120"/>
              </a:rPr>
              <a:t>Small, task-specific dataset</a:t>
            </a:r>
            <a:endParaRPr lang="en-US" sz="1200" dirty="0"/>
          </a:p>
          <a:p>
            <a:pPr marL="342900" indent="-342900">
              <a:buSzPct val="100000"/>
              <a:buChar char="•"/>
            </a:pPr>
            <a:r>
              <a:rPr lang="en-US" sz="1200" dirty="0">
                <a:solidFill>
                  <a:srgbClr val="3F3F3F"/>
                </a:solidFill>
                <a:latin typeface="Calibri" pitchFamily="34" charset="0"/>
                <a:ea typeface="Calibri" pitchFamily="34" charset="-122"/>
                <a:cs typeface="Calibri" pitchFamily="34" charset="-120"/>
              </a:rPr>
              <a:t>Adjusts model for your use case</a:t>
            </a:r>
            <a:endParaRPr lang="en-US" sz="1200" dirty="0"/>
          </a:p>
          <a:p>
            <a:pPr marL="342900" indent="-342900">
              <a:buSzPct val="100000"/>
              <a:buChar char="•"/>
            </a:pPr>
            <a:r>
              <a:rPr lang="en-US" sz="1200" dirty="0">
                <a:solidFill>
                  <a:srgbClr val="3F3F3F"/>
                </a:solidFill>
                <a:latin typeface="Calibri" pitchFamily="34" charset="0"/>
                <a:ea typeface="Calibri" pitchFamily="34" charset="-122"/>
                <a:cs typeface="Calibri" pitchFamily="34" charset="-120"/>
              </a:rPr>
              <a:t>Much faster &amp; cheaper</a:t>
            </a:r>
            <a:endParaRPr lang="en-US" sz="1200" dirty="0"/>
          </a:p>
          <a:p>
            <a:pPr marL="342900" indent="-342900">
              <a:buSzPct val="100000"/>
              <a:buChar char="•"/>
            </a:pPr>
            <a:r>
              <a:rPr lang="en-US" sz="1200" dirty="0">
                <a:solidFill>
                  <a:srgbClr val="3F3F3F"/>
                </a:solidFill>
                <a:latin typeface="Calibri" pitchFamily="34" charset="0"/>
                <a:ea typeface="Calibri" pitchFamily="34" charset="-122"/>
                <a:cs typeface="Calibri" pitchFamily="34" charset="-120"/>
              </a:rPr>
              <a:t>Like teaching vs retraining from scratch</a:t>
            </a:r>
            <a:endParaRPr lang="en-US" sz="1200" dirty="0"/>
          </a:p>
        </p:txBody>
      </p:sp>
      <p:sp>
        <p:nvSpPr>
          <p:cNvPr id="10" name="Text 8"/>
          <p:cNvSpPr/>
          <p:nvPr/>
        </p:nvSpPr>
        <p:spPr>
          <a:xfrm>
            <a:off x="640080" y="4777740"/>
            <a:ext cx="7863840" cy="365760"/>
          </a:xfrm>
          <a:prstGeom prst="rect">
            <a:avLst/>
          </a:prstGeom>
          <a:noFill/>
          <a:ln/>
        </p:spPr>
        <p:txBody>
          <a:bodyPr wrap="square" rtlCol="0" anchor="ctr"/>
          <a:lstStyle/>
          <a:p>
            <a:pPr marL="0" indent="0">
              <a:buNone/>
            </a:pPr>
            <a:r>
              <a:rPr lang="en-US" sz="1300" dirty="0">
                <a:solidFill>
                  <a:srgbClr val="3F3F3F"/>
                </a:solidFill>
                <a:latin typeface="Calibri" pitchFamily="34" charset="0"/>
                <a:ea typeface="Calibri" pitchFamily="34" charset="-122"/>
                <a:cs typeface="Calibri" pitchFamily="34" charset="-120"/>
              </a:rPr>
              <a:t>🎓 Analogy: Pretraining is learning language in school. Fine-tuning is taking a masterclass in your specialty.</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57200"/>
            <a:ext cx="8229600" cy="731520"/>
          </a:xfrm>
          <a:prstGeom prst="rect">
            <a:avLst/>
          </a:prstGeom>
          <a:noFill/>
          <a:ln/>
        </p:spPr>
        <p:txBody>
          <a:bodyPr wrap="square" lIns="0" tIns="0" rIns="0" bIns="0" rtlCol="0" anchor="ctr"/>
          <a:lstStyle/>
          <a:p>
            <a:pPr marL="0" indent="0" algn="l">
              <a:buNone/>
            </a:pPr>
            <a:r>
              <a:rPr lang="en-US" sz="4400" b="1" dirty="0">
                <a:solidFill>
                  <a:srgbClr val="1E3A5F"/>
                </a:solidFill>
                <a:latin typeface="Arial" pitchFamily="34" charset="0"/>
                <a:ea typeface="Arial" pitchFamily="34" charset="-122"/>
                <a:cs typeface="Arial" pitchFamily="34" charset="-120"/>
              </a:rPr>
              <a:t>Context Windows</a:t>
            </a:r>
            <a:endParaRPr lang="en-US" sz="4400" dirty="0"/>
          </a:p>
        </p:txBody>
      </p:sp>
      <p:sp>
        <p:nvSpPr>
          <p:cNvPr id="3" name="Shape 1"/>
          <p:cNvSpPr/>
          <p:nvPr/>
        </p:nvSpPr>
        <p:spPr>
          <a:xfrm>
            <a:off x="457200" y="1188720"/>
            <a:ext cx="8229600" cy="640080"/>
          </a:xfrm>
          <a:prstGeom prst="roundRect">
            <a:avLst>
              <a:gd name="adj" fmla="val 11429"/>
            </a:avLst>
          </a:prstGeom>
          <a:solidFill>
            <a:srgbClr val="E8F1F8"/>
          </a:solidFill>
          <a:ln w="25400">
            <a:solidFill>
              <a:srgbClr val="0EA5E9"/>
            </a:solidFill>
            <a:prstDash val="solid"/>
          </a:ln>
        </p:spPr>
        <p:txBody>
          <a:bodyPr/>
          <a:lstStyle/>
          <a:p>
            <a:endParaRPr lang="en-US"/>
          </a:p>
        </p:txBody>
      </p:sp>
      <p:sp>
        <p:nvSpPr>
          <p:cNvPr id="4" name="Text 2"/>
          <p:cNvSpPr/>
          <p:nvPr/>
        </p:nvSpPr>
        <p:spPr>
          <a:xfrm>
            <a:off x="640080" y="1261872"/>
            <a:ext cx="7863840" cy="493776"/>
          </a:xfrm>
          <a:prstGeom prst="rect">
            <a:avLst/>
          </a:prstGeom>
          <a:noFill/>
          <a:ln/>
        </p:spPr>
        <p:txBody>
          <a:bodyPr wrap="square" rtlCol="0" anchor="ctr"/>
          <a:lstStyle/>
          <a:p>
            <a:pPr marL="0" indent="0">
              <a:buNone/>
            </a:pPr>
            <a:r>
              <a:rPr lang="en-US" sz="1400" b="1" dirty="0">
                <a:solidFill>
                  <a:srgbClr val="1E3A5F"/>
                </a:solidFill>
                <a:latin typeface="Calibri" pitchFamily="34" charset="0"/>
                <a:ea typeface="Calibri" pitchFamily="34" charset="-122"/>
                <a:cs typeface="Calibri" pitchFamily="34" charset="-120"/>
              </a:rPr>
              <a:t>Context Window: The maximum number of tokens the model can read in a single request (prompt + response).</a:t>
            </a:r>
            <a:endParaRPr lang="en-US" sz="1400" dirty="0"/>
          </a:p>
        </p:txBody>
      </p:sp>
      <p:sp>
        <p:nvSpPr>
          <p:cNvPr id="5" name="Text 3"/>
          <p:cNvSpPr/>
          <p:nvPr/>
        </p:nvSpPr>
        <p:spPr>
          <a:xfrm>
            <a:off x="457200" y="2011680"/>
            <a:ext cx="8229600" cy="228600"/>
          </a:xfrm>
          <a:prstGeom prst="rect">
            <a:avLst/>
          </a:prstGeom>
          <a:noFill/>
          <a:ln/>
        </p:spPr>
        <p:txBody>
          <a:bodyPr wrap="square" rtlCol="0" anchor="ctr"/>
          <a:lstStyle/>
          <a:p>
            <a:pPr marL="0" indent="0">
              <a:buNone/>
            </a:pPr>
            <a:r>
              <a:rPr lang="en-US" sz="1600" b="1" dirty="0">
                <a:solidFill>
                  <a:srgbClr val="1E3A5F"/>
                </a:solidFill>
                <a:latin typeface="Arial" pitchFamily="34" charset="0"/>
                <a:ea typeface="Arial" pitchFamily="34" charset="-122"/>
                <a:cs typeface="Arial" pitchFamily="34" charset="-120"/>
              </a:rPr>
              <a:t>Real-World Examples</a:t>
            </a:r>
            <a:endParaRPr lang="en-US" sz="1600" dirty="0"/>
          </a:p>
        </p:txBody>
      </p:sp>
      <p:sp>
        <p:nvSpPr>
          <p:cNvPr id="6" name="Text 4"/>
          <p:cNvSpPr/>
          <p:nvPr/>
        </p:nvSpPr>
        <p:spPr>
          <a:xfrm>
            <a:off x="640080" y="2377440"/>
            <a:ext cx="2286000" cy="256032"/>
          </a:xfrm>
          <a:prstGeom prst="rect">
            <a:avLst/>
          </a:prstGeom>
          <a:noFill/>
          <a:ln/>
        </p:spPr>
        <p:txBody>
          <a:bodyPr wrap="square" rtlCol="0" anchor="ctr"/>
          <a:lstStyle/>
          <a:p>
            <a:pPr marL="0" indent="0">
              <a:buNone/>
            </a:pPr>
            <a:r>
              <a:rPr lang="en-US" sz="1300" b="1" dirty="0">
                <a:solidFill>
                  <a:srgbClr val="2E5090"/>
                </a:solidFill>
                <a:latin typeface="Arial" pitchFamily="34" charset="0"/>
                <a:ea typeface="Arial" pitchFamily="34" charset="-122"/>
                <a:cs typeface="Arial" pitchFamily="34" charset="-120"/>
              </a:rPr>
              <a:t>GPT-3.5</a:t>
            </a:r>
            <a:endParaRPr lang="en-US" sz="1300" dirty="0"/>
          </a:p>
        </p:txBody>
      </p:sp>
      <p:sp>
        <p:nvSpPr>
          <p:cNvPr id="7" name="Text 5"/>
          <p:cNvSpPr/>
          <p:nvPr/>
        </p:nvSpPr>
        <p:spPr>
          <a:xfrm>
            <a:off x="3017520" y="2377440"/>
            <a:ext cx="2743200" cy="256032"/>
          </a:xfrm>
          <a:prstGeom prst="rect">
            <a:avLst/>
          </a:prstGeom>
          <a:noFill/>
          <a:ln/>
        </p:spPr>
        <p:txBody>
          <a:bodyPr wrap="square" rtlCol="0" anchor="ctr"/>
          <a:lstStyle/>
          <a:p>
            <a:pPr marL="0" indent="0">
              <a:buNone/>
            </a:pPr>
            <a:r>
              <a:rPr lang="en-US" sz="1300" dirty="0">
                <a:solidFill>
                  <a:srgbClr val="3F3F3F"/>
                </a:solidFill>
                <a:latin typeface="Calibri" pitchFamily="34" charset="0"/>
                <a:ea typeface="Calibri" pitchFamily="34" charset="-122"/>
                <a:cs typeface="Calibri" pitchFamily="34" charset="-120"/>
              </a:rPr>
              <a:t>4,096 tokens</a:t>
            </a:r>
            <a:endParaRPr lang="en-US" sz="1300" dirty="0"/>
          </a:p>
        </p:txBody>
      </p:sp>
      <p:sp>
        <p:nvSpPr>
          <p:cNvPr id="8" name="Text 6"/>
          <p:cNvSpPr/>
          <p:nvPr/>
        </p:nvSpPr>
        <p:spPr>
          <a:xfrm>
            <a:off x="5943600" y="2377440"/>
            <a:ext cx="2743200" cy="256032"/>
          </a:xfrm>
          <a:prstGeom prst="rect">
            <a:avLst/>
          </a:prstGeom>
          <a:noFill/>
          <a:ln/>
        </p:spPr>
        <p:txBody>
          <a:bodyPr wrap="square" rtlCol="0" anchor="ctr"/>
          <a:lstStyle/>
          <a:p>
            <a:pPr marL="0" indent="0">
              <a:buNone/>
            </a:pPr>
            <a:r>
              <a:rPr lang="en-US" sz="1200" i="1" dirty="0">
                <a:solidFill>
                  <a:srgbClr val="6B7280"/>
                </a:solidFill>
                <a:latin typeface="Calibri" pitchFamily="34" charset="0"/>
                <a:ea typeface="Calibri" pitchFamily="34" charset="-122"/>
                <a:cs typeface="Calibri" pitchFamily="34" charset="-120"/>
              </a:rPr>
              <a:t>~3,000 words</a:t>
            </a:r>
            <a:endParaRPr lang="en-US" sz="1200" dirty="0"/>
          </a:p>
        </p:txBody>
      </p:sp>
      <p:sp>
        <p:nvSpPr>
          <p:cNvPr id="9" name="Text 7"/>
          <p:cNvSpPr/>
          <p:nvPr/>
        </p:nvSpPr>
        <p:spPr>
          <a:xfrm>
            <a:off x="640080" y="2743200"/>
            <a:ext cx="2286000" cy="256032"/>
          </a:xfrm>
          <a:prstGeom prst="rect">
            <a:avLst/>
          </a:prstGeom>
          <a:noFill/>
          <a:ln/>
        </p:spPr>
        <p:txBody>
          <a:bodyPr wrap="square" rtlCol="0" anchor="ctr"/>
          <a:lstStyle/>
          <a:p>
            <a:pPr marL="0" indent="0">
              <a:buNone/>
            </a:pPr>
            <a:r>
              <a:rPr lang="en-US" sz="1300" b="1" dirty="0">
                <a:solidFill>
                  <a:srgbClr val="2E5090"/>
                </a:solidFill>
                <a:latin typeface="Arial" pitchFamily="34" charset="0"/>
                <a:ea typeface="Arial" pitchFamily="34" charset="-122"/>
                <a:cs typeface="Arial" pitchFamily="34" charset="-120"/>
              </a:rPr>
              <a:t>GPT-4</a:t>
            </a:r>
            <a:endParaRPr lang="en-US" sz="1300" dirty="0"/>
          </a:p>
        </p:txBody>
      </p:sp>
      <p:sp>
        <p:nvSpPr>
          <p:cNvPr id="10" name="Text 8"/>
          <p:cNvSpPr/>
          <p:nvPr/>
        </p:nvSpPr>
        <p:spPr>
          <a:xfrm>
            <a:off x="3017520" y="2743200"/>
            <a:ext cx="2743200" cy="256032"/>
          </a:xfrm>
          <a:prstGeom prst="rect">
            <a:avLst/>
          </a:prstGeom>
          <a:noFill/>
          <a:ln/>
        </p:spPr>
        <p:txBody>
          <a:bodyPr wrap="square" rtlCol="0" anchor="ctr"/>
          <a:lstStyle/>
          <a:p>
            <a:pPr marL="0" indent="0">
              <a:buNone/>
            </a:pPr>
            <a:r>
              <a:rPr lang="en-US" sz="1300" dirty="0">
                <a:solidFill>
                  <a:srgbClr val="3F3F3F"/>
                </a:solidFill>
                <a:latin typeface="Calibri" pitchFamily="34" charset="0"/>
                <a:ea typeface="Calibri" pitchFamily="34" charset="-122"/>
                <a:cs typeface="Calibri" pitchFamily="34" charset="-120"/>
              </a:rPr>
              <a:t>8,192 tokens (128K available)</a:t>
            </a:r>
            <a:endParaRPr lang="en-US" sz="1300" dirty="0"/>
          </a:p>
        </p:txBody>
      </p:sp>
      <p:sp>
        <p:nvSpPr>
          <p:cNvPr id="11" name="Text 9"/>
          <p:cNvSpPr/>
          <p:nvPr/>
        </p:nvSpPr>
        <p:spPr>
          <a:xfrm>
            <a:off x="5943600" y="2743200"/>
            <a:ext cx="2743200" cy="256032"/>
          </a:xfrm>
          <a:prstGeom prst="rect">
            <a:avLst/>
          </a:prstGeom>
          <a:noFill/>
          <a:ln/>
        </p:spPr>
        <p:txBody>
          <a:bodyPr wrap="square" rtlCol="0" anchor="ctr"/>
          <a:lstStyle/>
          <a:p>
            <a:pPr marL="0" indent="0">
              <a:buNone/>
            </a:pPr>
            <a:r>
              <a:rPr lang="en-US" sz="1200" i="1" dirty="0">
                <a:solidFill>
                  <a:srgbClr val="6B7280"/>
                </a:solidFill>
                <a:latin typeface="Calibri" pitchFamily="34" charset="0"/>
                <a:ea typeface="Calibri" pitchFamily="34" charset="-122"/>
                <a:cs typeface="Calibri" pitchFamily="34" charset="-120"/>
              </a:rPr>
              <a:t>~6,000 words</a:t>
            </a:r>
            <a:endParaRPr lang="en-US" sz="1200" dirty="0"/>
          </a:p>
        </p:txBody>
      </p:sp>
      <p:sp>
        <p:nvSpPr>
          <p:cNvPr id="12" name="Text 10"/>
          <p:cNvSpPr/>
          <p:nvPr/>
        </p:nvSpPr>
        <p:spPr>
          <a:xfrm>
            <a:off x="640080" y="3108960"/>
            <a:ext cx="2286000" cy="256032"/>
          </a:xfrm>
          <a:prstGeom prst="rect">
            <a:avLst/>
          </a:prstGeom>
          <a:noFill/>
          <a:ln/>
        </p:spPr>
        <p:txBody>
          <a:bodyPr wrap="square" rtlCol="0" anchor="ctr"/>
          <a:lstStyle/>
          <a:p>
            <a:pPr marL="0" indent="0">
              <a:buNone/>
            </a:pPr>
            <a:r>
              <a:rPr lang="en-US" sz="1300" b="1" dirty="0">
                <a:solidFill>
                  <a:srgbClr val="2E5090"/>
                </a:solidFill>
                <a:latin typeface="Arial" pitchFamily="34" charset="0"/>
                <a:ea typeface="Arial" pitchFamily="34" charset="-122"/>
                <a:cs typeface="Arial" pitchFamily="34" charset="-120"/>
              </a:rPr>
              <a:t>Claude 3.5 Sonnet</a:t>
            </a:r>
            <a:endParaRPr lang="en-US" sz="1300" dirty="0"/>
          </a:p>
        </p:txBody>
      </p:sp>
      <p:sp>
        <p:nvSpPr>
          <p:cNvPr id="13" name="Text 11"/>
          <p:cNvSpPr/>
          <p:nvPr/>
        </p:nvSpPr>
        <p:spPr>
          <a:xfrm>
            <a:off x="3017520" y="3108960"/>
            <a:ext cx="2743200" cy="256032"/>
          </a:xfrm>
          <a:prstGeom prst="rect">
            <a:avLst/>
          </a:prstGeom>
          <a:noFill/>
          <a:ln/>
        </p:spPr>
        <p:txBody>
          <a:bodyPr wrap="square" rtlCol="0" anchor="ctr"/>
          <a:lstStyle/>
          <a:p>
            <a:pPr marL="0" indent="0">
              <a:buNone/>
            </a:pPr>
            <a:r>
              <a:rPr lang="en-US" sz="1300" dirty="0">
                <a:solidFill>
                  <a:srgbClr val="3F3F3F"/>
                </a:solidFill>
                <a:latin typeface="Calibri" pitchFamily="34" charset="0"/>
                <a:ea typeface="Calibri" pitchFamily="34" charset="-122"/>
                <a:cs typeface="Calibri" pitchFamily="34" charset="-120"/>
              </a:rPr>
              <a:t>200,000 tokens</a:t>
            </a:r>
            <a:endParaRPr lang="en-US" sz="1300" dirty="0"/>
          </a:p>
        </p:txBody>
      </p:sp>
      <p:sp>
        <p:nvSpPr>
          <p:cNvPr id="14" name="Text 12"/>
          <p:cNvSpPr/>
          <p:nvPr/>
        </p:nvSpPr>
        <p:spPr>
          <a:xfrm>
            <a:off x="5943600" y="3108960"/>
            <a:ext cx="2743200" cy="256032"/>
          </a:xfrm>
          <a:prstGeom prst="rect">
            <a:avLst/>
          </a:prstGeom>
          <a:noFill/>
          <a:ln/>
        </p:spPr>
        <p:txBody>
          <a:bodyPr wrap="square" rtlCol="0" anchor="ctr"/>
          <a:lstStyle/>
          <a:p>
            <a:pPr marL="0" indent="0">
              <a:buNone/>
            </a:pPr>
            <a:r>
              <a:rPr lang="en-US" sz="1200" i="1" dirty="0">
                <a:solidFill>
                  <a:srgbClr val="6B7280"/>
                </a:solidFill>
                <a:latin typeface="Calibri" pitchFamily="34" charset="0"/>
                <a:ea typeface="Calibri" pitchFamily="34" charset="-122"/>
                <a:cs typeface="Calibri" pitchFamily="34" charset="-120"/>
              </a:rPr>
              <a:t>~150,000 words</a:t>
            </a:r>
            <a:endParaRPr lang="en-US" sz="1200" dirty="0"/>
          </a:p>
        </p:txBody>
      </p:sp>
      <p:sp>
        <p:nvSpPr>
          <p:cNvPr id="15" name="Text 13"/>
          <p:cNvSpPr/>
          <p:nvPr/>
        </p:nvSpPr>
        <p:spPr>
          <a:xfrm>
            <a:off x="457200" y="3840480"/>
            <a:ext cx="8229600" cy="228600"/>
          </a:xfrm>
          <a:prstGeom prst="rect">
            <a:avLst/>
          </a:prstGeom>
          <a:noFill/>
          <a:ln/>
        </p:spPr>
        <p:txBody>
          <a:bodyPr wrap="square" rtlCol="0" anchor="ctr"/>
          <a:lstStyle/>
          <a:p>
            <a:pPr marL="0" indent="0">
              <a:buNone/>
            </a:pPr>
            <a:r>
              <a:rPr lang="en-US" sz="1600" b="1" dirty="0">
                <a:solidFill>
                  <a:srgbClr val="1E3A5F"/>
                </a:solidFill>
                <a:latin typeface="Arial" pitchFamily="34" charset="0"/>
                <a:ea typeface="Arial" pitchFamily="34" charset="-122"/>
                <a:cs typeface="Arial" pitchFamily="34" charset="-120"/>
              </a:rPr>
              <a:t>Why It Matters</a:t>
            </a:r>
            <a:endParaRPr lang="en-US" sz="1600" dirty="0"/>
          </a:p>
        </p:txBody>
      </p:sp>
      <p:sp>
        <p:nvSpPr>
          <p:cNvPr id="16" name="Text 14"/>
          <p:cNvSpPr/>
          <p:nvPr/>
        </p:nvSpPr>
        <p:spPr>
          <a:xfrm>
            <a:off x="640080" y="4160520"/>
            <a:ext cx="7863840" cy="868680"/>
          </a:xfrm>
          <a:prstGeom prst="rect">
            <a:avLst/>
          </a:prstGeom>
          <a:noFill/>
          <a:ln/>
        </p:spPr>
        <p:txBody>
          <a:bodyPr wrap="square" rtlCol="0" anchor="t"/>
          <a:lstStyle/>
          <a:p>
            <a:pPr marL="342900" indent="-342900" algn="l">
              <a:buSzPct val="100000"/>
              <a:buChar char="•"/>
            </a:pPr>
            <a:r>
              <a:rPr lang="en-US" sz="1600" dirty="0">
                <a:solidFill>
                  <a:srgbClr val="3F3F3F"/>
                </a:solidFill>
                <a:latin typeface="Calibri" pitchFamily="34" charset="0"/>
                <a:ea typeface="Calibri" pitchFamily="34" charset="-122"/>
                <a:cs typeface="Calibri" pitchFamily="34" charset="-120"/>
              </a:rPr>
              <a:t>Can't fit entire book into one request — need to chunk long documents</a:t>
            </a:r>
            <a:endParaRPr lang="en-US" sz="1600" dirty="0"/>
          </a:p>
          <a:p>
            <a:pPr marL="342900" indent="-342900" algn="l">
              <a:buSzPct val="100000"/>
              <a:buChar char="•"/>
            </a:pPr>
            <a:r>
              <a:rPr lang="en-US" sz="1600" dirty="0">
                <a:solidFill>
                  <a:srgbClr val="3F3F3F"/>
                </a:solidFill>
                <a:latin typeface="Calibri" pitchFamily="34" charset="0"/>
                <a:ea typeface="Calibri" pitchFamily="34" charset="-122"/>
                <a:cs typeface="Calibri" pitchFamily="34" charset="-120"/>
              </a:rPr>
              <a:t>Affects cost — larger context = more token processing</a:t>
            </a:r>
            <a:endParaRPr lang="en-US" sz="1600" dirty="0"/>
          </a:p>
          <a:p>
            <a:pPr marL="342900" indent="-342900" algn="l">
              <a:buSzPct val="100000"/>
              <a:buChar char="•"/>
            </a:pPr>
            <a:r>
              <a:rPr lang="en-US" sz="1600" dirty="0">
                <a:solidFill>
                  <a:srgbClr val="3F3F3F"/>
                </a:solidFill>
                <a:latin typeface="Calibri" pitchFamily="34" charset="0"/>
                <a:ea typeface="Calibri" pitchFamily="34" charset="-122"/>
                <a:cs typeface="Calibri" pitchFamily="34" charset="-120"/>
              </a:rPr>
              <a:t>Impacts retrieval strategies — why Retrieval-Augmented Generation (RAG) exists</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57200"/>
            <a:ext cx="8229600" cy="731520"/>
          </a:xfrm>
          <a:prstGeom prst="rect">
            <a:avLst/>
          </a:prstGeom>
          <a:noFill/>
          <a:ln/>
        </p:spPr>
        <p:txBody>
          <a:bodyPr wrap="square" lIns="0" tIns="0" rIns="0" bIns="0" rtlCol="0" anchor="ctr"/>
          <a:lstStyle/>
          <a:p>
            <a:pPr marL="0" indent="0" algn="l">
              <a:buNone/>
            </a:pPr>
            <a:r>
              <a:rPr lang="en-US" sz="4400" b="1" dirty="0">
                <a:solidFill>
                  <a:srgbClr val="1E3A5F"/>
                </a:solidFill>
                <a:latin typeface="Arial" pitchFamily="34" charset="0"/>
                <a:ea typeface="Arial" pitchFamily="34" charset="-122"/>
                <a:cs typeface="Arial" pitchFamily="34" charset="-120"/>
              </a:rPr>
              <a:t>Parameter Settings: Controlling Output</a:t>
            </a:r>
            <a:endParaRPr lang="en-US" sz="4400" dirty="0"/>
          </a:p>
        </p:txBody>
      </p:sp>
      <p:sp>
        <p:nvSpPr>
          <p:cNvPr id="3" name="Text 1"/>
          <p:cNvSpPr/>
          <p:nvPr/>
        </p:nvSpPr>
        <p:spPr>
          <a:xfrm>
            <a:off x="374821" y="1417320"/>
            <a:ext cx="8229600" cy="365760"/>
          </a:xfrm>
          <a:prstGeom prst="rect">
            <a:avLst/>
          </a:prstGeom>
          <a:noFill/>
          <a:ln/>
        </p:spPr>
        <p:txBody>
          <a:bodyPr wrap="square" rtlCol="0" anchor="t"/>
          <a:lstStyle/>
          <a:p>
            <a:pPr marL="0" indent="0" algn="l">
              <a:buNone/>
            </a:pPr>
            <a:r>
              <a:rPr lang="en-US" sz="1400" dirty="0">
                <a:solidFill>
                  <a:srgbClr val="3F3F3F"/>
                </a:solidFill>
                <a:latin typeface="Calibri" pitchFamily="34" charset="0"/>
                <a:ea typeface="Calibri" pitchFamily="34" charset="-122"/>
                <a:cs typeface="Calibri" pitchFamily="34" charset="-120"/>
              </a:rPr>
              <a:t>When you call an LLM, you can tune settings that change how it generates. Here are the most important:</a:t>
            </a:r>
            <a:endParaRPr lang="en-US" sz="1400" dirty="0"/>
          </a:p>
        </p:txBody>
      </p:sp>
      <p:sp>
        <p:nvSpPr>
          <p:cNvPr id="4" name="Text 2"/>
          <p:cNvSpPr/>
          <p:nvPr/>
        </p:nvSpPr>
        <p:spPr>
          <a:xfrm>
            <a:off x="457200" y="1737360"/>
            <a:ext cx="8229600" cy="228600"/>
          </a:xfrm>
          <a:prstGeom prst="rect">
            <a:avLst/>
          </a:prstGeom>
          <a:noFill/>
          <a:ln/>
        </p:spPr>
        <p:txBody>
          <a:bodyPr wrap="square" rtlCol="0" anchor="ctr"/>
          <a:lstStyle/>
          <a:p>
            <a:pPr marL="0" indent="0">
              <a:buNone/>
            </a:pPr>
            <a:r>
              <a:rPr lang="en-US" sz="1400" b="1" dirty="0">
                <a:solidFill>
                  <a:srgbClr val="2E5090"/>
                </a:solidFill>
                <a:latin typeface="Arial" pitchFamily="34" charset="0"/>
                <a:ea typeface="Arial" pitchFamily="34" charset="-122"/>
                <a:cs typeface="Arial" pitchFamily="34" charset="-120"/>
              </a:rPr>
              <a:t>Temperature (0.0 - 2.0)</a:t>
            </a:r>
            <a:endParaRPr lang="en-US" sz="1400" dirty="0"/>
          </a:p>
        </p:txBody>
      </p:sp>
      <p:sp>
        <p:nvSpPr>
          <p:cNvPr id="5" name="Shape 3"/>
          <p:cNvSpPr/>
          <p:nvPr/>
        </p:nvSpPr>
        <p:spPr>
          <a:xfrm>
            <a:off x="640080" y="2094060"/>
            <a:ext cx="7863840" cy="45720"/>
          </a:xfrm>
          <a:prstGeom prst="rect">
            <a:avLst/>
          </a:prstGeom>
          <a:solidFill>
            <a:srgbClr val="F3F4F6"/>
          </a:solidFill>
          <a:ln/>
        </p:spPr>
        <p:txBody>
          <a:bodyPr/>
          <a:lstStyle/>
          <a:p>
            <a:endParaRPr lang="en-US"/>
          </a:p>
        </p:txBody>
      </p:sp>
      <p:sp>
        <p:nvSpPr>
          <p:cNvPr id="6" name="Text 4"/>
          <p:cNvSpPr/>
          <p:nvPr/>
        </p:nvSpPr>
        <p:spPr>
          <a:xfrm>
            <a:off x="640080" y="2038863"/>
            <a:ext cx="7863840" cy="137160"/>
          </a:xfrm>
          <a:prstGeom prst="rect">
            <a:avLst/>
          </a:prstGeom>
          <a:noFill/>
          <a:ln/>
        </p:spPr>
        <p:txBody>
          <a:bodyPr wrap="square" rtlCol="0" anchor="ctr"/>
          <a:lstStyle/>
          <a:p>
            <a:pPr marL="0" indent="0" algn="l">
              <a:buNone/>
            </a:pPr>
            <a:r>
              <a:rPr lang="en-US" sz="1000" dirty="0">
                <a:solidFill>
                  <a:srgbClr val="6B7280"/>
                </a:solidFill>
                <a:latin typeface="Calibri" pitchFamily="34" charset="0"/>
                <a:ea typeface="Calibri" pitchFamily="34" charset="-122"/>
                <a:cs typeface="Calibri" pitchFamily="34" charset="-120"/>
              </a:rPr>
              <a:t>Low (0.0 - 0.5)     		               |     Medium (0.7 - 1.0)     |    		 High (1.2 - 2.0)</a:t>
            </a:r>
            <a:endParaRPr lang="en-US" sz="1000" dirty="0"/>
          </a:p>
        </p:txBody>
      </p:sp>
      <p:sp>
        <p:nvSpPr>
          <p:cNvPr id="7" name="Text 5"/>
          <p:cNvSpPr/>
          <p:nvPr/>
        </p:nvSpPr>
        <p:spPr>
          <a:xfrm>
            <a:off x="640080" y="2231220"/>
            <a:ext cx="2286000" cy="365760"/>
          </a:xfrm>
          <a:prstGeom prst="rect">
            <a:avLst/>
          </a:prstGeom>
          <a:noFill/>
          <a:ln/>
        </p:spPr>
        <p:txBody>
          <a:bodyPr wrap="square" rtlCol="0" anchor="t"/>
          <a:lstStyle/>
          <a:p>
            <a:pPr marL="0" indent="0" algn="l">
              <a:buNone/>
            </a:pPr>
            <a:r>
              <a:rPr lang="en-US" sz="1200" dirty="0">
                <a:solidFill>
                  <a:srgbClr val="3F3F3F"/>
                </a:solidFill>
                <a:latin typeface="Calibri" pitchFamily="34" charset="0"/>
                <a:ea typeface="Calibri" pitchFamily="34" charset="-122"/>
                <a:cs typeface="Calibri" pitchFamily="34" charset="-120"/>
              </a:rPr>
              <a:t>Deterministic, focused, factual</a:t>
            </a:r>
            <a:endParaRPr lang="en-US" sz="1200" dirty="0"/>
          </a:p>
        </p:txBody>
      </p:sp>
      <p:sp>
        <p:nvSpPr>
          <p:cNvPr id="8" name="Text 6"/>
          <p:cNvSpPr/>
          <p:nvPr/>
        </p:nvSpPr>
        <p:spPr>
          <a:xfrm>
            <a:off x="3200400" y="2231220"/>
            <a:ext cx="2286000" cy="365760"/>
          </a:xfrm>
          <a:prstGeom prst="rect">
            <a:avLst/>
          </a:prstGeom>
          <a:noFill/>
          <a:ln/>
        </p:spPr>
        <p:txBody>
          <a:bodyPr wrap="square" rtlCol="0" anchor="t"/>
          <a:lstStyle/>
          <a:p>
            <a:pPr marL="0" indent="0" algn="l">
              <a:buNone/>
            </a:pPr>
            <a:r>
              <a:rPr lang="en-US" sz="1200" dirty="0">
                <a:solidFill>
                  <a:srgbClr val="3F3F3F"/>
                </a:solidFill>
                <a:latin typeface="Calibri" pitchFamily="34" charset="0"/>
                <a:ea typeface="Calibri" pitchFamily="34" charset="-122"/>
                <a:cs typeface="Calibri" pitchFamily="34" charset="-120"/>
              </a:rPr>
              <a:t>Balanced</a:t>
            </a:r>
            <a:endParaRPr lang="en-US" sz="1200" dirty="0"/>
          </a:p>
        </p:txBody>
      </p:sp>
      <p:sp>
        <p:nvSpPr>
          <p:cNvPr id="9" name="Text 7"/>
          <p:cNvSpPr/>
          <p:nvPr/>
        </p:nvSpPr>
        <p:spPr>
          <a:xfrm>
            <a:off x="5760720" y="2231220"/>
            <a:ext cx="2286000" cy="365760"/>
          </a:xfrm>
          <a:prstGeom prst="rect">
            <a:avLst/>
          </a:prstGeom>
          <a:noFill/>
          <a:ln/>
        </p:spPr>
        <p:txBody>
          <a:bodyPr wrap="square" rtlCol="0" anchor="t"/>
          <a:lstStyle/>
          <a:p>
            <a:pPr marL="0" indent="0" algn="l">
              <a:buNone/>
            </a:pPr>
            <a:r>
              <a:rPr lang="en-US" sz="1200" dirty="0">
                <a:solidFill>
                  <a:srgbClr val="3F3F3F"/>
                </a:solidFill>
                <a:latin typeface="Calibri" pitchFamily="34" charset="0"/>
                <a:ea typeface="Calibri" pitchFamily="34" charset="-122"/>
                <a:cs typeface="Calibri" pitchFamily="34" charset="-120"/>
              </a:rPr>
              <a:t>Creative, random, varied</a:t>
            </a:r>
            <a:endParaRPr lang="en-US" sz="1200" dirty="0"/>
          </a:p>
        </p:txBody>
      </p:sp>
      <p:sp>
        <p:nvSpPr>
          <p:cNvPr id="10" name="Text 8"/>
          <p:cNvSpPr/>
          <p:nvPr/>
        </p:nvSpPr>
        <p:spPr>
          <a:xfrm>
            <a:off x="640080" y="2606040"/>
            <a:ext cx="7863840" cy="274320"/>
          </a:xfrm>
          <a:prstGeom prst="rect">
            <a:avLst/>
          </a:prstGeom>
          <a:noFill/>
          <a:ln/>
        </p:spPr>
        <p:txBody>
          <a:bodyPr wrap="square" rtlCol="0" anchor="ctr"/>
          <a:lstStyle/>
          <a:p>
            <a:pPr marL="0" indent="0">
              <a:buNone/>
            </a:pPr>
            <a:r>
              <a:rPr lang="en-US" sz="1200" i="1" dirty="0">
                <a:solidFill>
                  <a:srgbClr val="3F3F3F"/>
                </a:solidFill>
                <a:latin typeface="Calibri" pitchFamily="34" charset="0"/>
                <a:ea typeface="Calibri" pitchFamily="34" charset="-122"/>
                <a:cs typeface="Calibri" pitchFamily="34" charset="-120"/>
              </a:rPr>
              <a:t>Use low for Q&amp;A, coding. Use high for creative writing, brainstorming.</a:t>
            </a:r>
            <a:endParaRPr lang="en-US" sz="1200" dirty="0"/>
          </a:p>
        </p:txBody>
      </p:sp>
      <p:sp>
        <p:nvSpPr>
          <p:cNvPr id="11" name="Text 9"/>
          <p:cNvSpPr/>
          <p:nvPr/>
        </p:nvSpPr>
        <p:spPr>
          <a:xfrm>
            <a:off x="457200" y="3017520"/>
            <a:ext cx="8229600" cy="228600"/>
          </a:xfrm>
          <a:prstGeom prst="rect">
            <a:avLst/>
          </a:prstGeom>
          <a:noFill/>
          <a:ln/>
        </p:spPr>
        <p:txBody>
          <a:bodyPr wrap="square" rtlCol="0" anchor="ctr"/>
          <a:lstStyle/>
          <a:p>
            <a:pPr marL="0" indent="0">
              <a:buNone/>
            </a:pPr>
            <a:r>
              <a:rPr lang="en-US" sz="1400" b="1" dirty="0">
                <a:solidFill>
                  <a:srgbClr val="2E5090"/>
                </a:solidFill>
                <a:latin typeface="Arial" pitchFamily="34" charset="0"/>
                <a:ea typeface="Arial" pitchFamily="34" charset="-122"/>
                <a:cs typeface="Arial" pitchFamily="34" charset="-120"/>
              </a:rPr>
              <a:t>Top-p (0.0 - 1.0)</a:t>
            </a:r>
            <a:endParaRPr lang="en-US" sz="1400" dirty="0"/>
          </a:p>
        </p:txBody>
      </p:sp>
      <p:sp>
        <p:nvSpPr>
          <p:cNvPr id="12" name="Text 10"/>
          <p:cNvSpPr/>
          <p:nvPr/>
        </p:nvSpPr>
        <p:spPr>
          <a:xfrm>
            <a:off x="640080" y="3337560"/>
            <a:ext cx="7863840" cy="457200"/>
          </a:xfrm>
          <a:prstGeom prst="rect">
            <a:avLst/>
          </a:prstGeom>
          <a:noFill/>
          <a:ln/>
        </p:spPr>
        <p:txBody>
          <a:bodyPr wrap="square" rtlCol="0" anchor="t"/>
          <a:lstStyle/>
          <a:p>
            <a:pPr marL="0" indent="0" algn="l">
              <a:buNone/>
            </a:pPr>
            <a:r>
              <a:rPr lang="en-US" sz="1600" dirty="0">
                <a:solidFill>
                  <a:srgbClr val="3F3F3F"/>
                </a:solidFill>
                <a:latin typeface="Calibri" pitchFamily="34" charset="0"/>
                <a:ea typeface="Calibri" pitchFamily="34" charset="-122"/>
                <a:cs typeface="Calibri" pitchFamily="34" charset="-120"/>
              </a:rPr>
              <a:t>Controls diversity by only sampling from the top tokens that make up a certain probability mass. Lower = more focused choices, higher = broader vocabulary.</a:t>
            </a:r>
            <a:endParaRPr lang="en-US" sz="1600" dirty="0"/>
          </a:p>
        </p:txBody>
      </p:sp>
      <p:sp>
        <p:nvSpPr>
          <p:cNvPr id="13" name="Text 11"/>
          <p:cNvSpPr/>
          <p:nvPr/>
        </p:nvSpPr>
        <p:spPr>
          <a:xfrm>
            <a:off x="640080" y="3886200"/>
            <a:ext cx="7863840" cy="320040"/>
          </a:xfrm>
          <a:prstGeom prst="rect">
            <a:avLst/>
          </a:prstGeom>
          <a:noFill/>
          <a:ln/>
        </p:spPr>
        <p:txBody>
          <a:bodyPr wrap="square" rtlCol="0" anchor="ctr"/>
          <a:lstStyle/>
          <a:p>
            <a:pPr marL="0" indent="0">
              <a:buNone/>
            </a:pPr>
            <a:r>
              <a:rPr lang="en-US" sz="1200" i="1" dirty="0">
                <a:solidFill>
                  <a:srgbClr val="3F3F3F"/>
                </a:solidFill>
                <a:latin typeface="Calibri" pitchFamily="34" charset="0"/>
                <a:ea typeface="Calibri" pitchFamily="34" charset="-122"/>
                <a:cs typeface="Calibri" pitchFamily="34" charset="-120"/>
              </a:rPr>
              <a:t>Example: At top-p=0.9, the model only considers the top tokens that collectively account for 90% probability.</a:t>
            </a:r>
            <a:endParaRPr lang="en-US" sz="1200" dirty="0"/>
          </a:p>
        </p:txBody>
      </p:sp>
      <p:sp>
        <p:nvSpPr>
          <p:cNvPr id="14" name="Text 12"/>
          <p:cNvSpPr/>
          <p:nvPr/>
        </p:nvSpPr>
        <p:spPr>
          <a:xfrm>
            <a:off x="457200" y="4343400"/>
            <a:ext cx="8229600" cy="228600"/>
          </a:xfrm>
          <a:prstGeom prst="rect">
            <a:avLst/>
          </a:prstGeom>
          <a:noFill/>
          <a:ln/>
        </p:spPr>
        <p:txBody>
          <a:bodyPr wrap="square" rtlCol="0" anchor="ctr"/>
          <a:lstStyle/>
          <a:p>
            <a:pPr marL="0" indent="0">
              <a:buNone/>
            </a:pPr>
            <a:r>
              <a:rPr lang="en-US" sz="1400" b="1" dirty="0">
                <a:solidFill>
                  <a:srgbClr val="2E5090"/>
                </a:solidFill>
                <a:latin typeface="Arial" pitchFamily="34" charset="0"/>
                <a:ea typeface="Arial" pitchFamily="34" charset="-122"/>
                <a:cs typeface="Arial" pitchFamily="34" charset="-120"/>
              </a:rPr>
              <a:t>Max Tokens</a:t>
            </a:r>
            <a:endParaRPr lang="en-US" sz="1400" dirty="0"/>
          </a:p>
        </p:txBody>
      </p:sp>
      <p:sp>
        <p:nvSpPr>
          <p:cNvPr id="15" name="Text 13"/>
          <p:cNvSpPr/>
          <p:nvPr/>
        </p:nvSpPr>
        <p:spPr>
          <a:xfrm>
            <a:off x="640080" y="4572000"/>
            <a:ext cx="7863840" cy="365760"/>
          </a:xfrm>
          <a:prstGeom prst="rect">
            <a:avLst/>
          </a:prstGeom>
          <a:noFill/>
          <a:ln/>
        </p:spPr>
        <p:txBody>
          <a:bodyPr wrap="square" rtlCol="0" anchor="t"/>
          <a:lstStyle/>
          <a:p>
            <a:pPr marL="0" indent="0" algn="l">
              <a:buNone/>
            </a:pPr>
            <a:r>
              <a:rPr lang="en-US" sz="1600" dirty="0">
                <a:solidFill>
                  <a:srgbClr val="3F3F3F"/>
                </a:solidFill>
                <a:latin typeface="Calibri" pitchFamily="34" charset="0"/>
                <a:ea typeface="Calibri" pitchFamily="34" charset="-122"/>
                <a:cs typeface="Calibri" pitchFamily="34" charset="-120"/>
              </a:rPr>
              <a:t>Sets a hard limit on response length. Useful for cost control and preventing runaway generations.</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57200"/>
            <a:ext cx="8229600" cy="731520"/>
          </a:xfrm>
          <a:prstGeom prst="rect">
            <a:avLst/>
          </a:prstGeom>
          <a:noFill/>
          <a:ln/>
        </p:spPr>
        <p:txBody>
          <a:bodyPr wrap="square" lIns="0" tIns="0" rIns="0" bIns="0" rtlCol="0" anchor="ctr"/>
          <a:lstStyle/>
          <a:p>
            <a:pPr marL="0" indent="0" algn="l">
              <a:buNone/>
            </a:pPr>
            <a:r>
              <a:rPr lang="en-US" sz="4000" b="1" dirty="0">
                <a:solidFill>
                  <a:srgbClr val="1E3A5F"/>
                </a:solidFill>
                <a:latin typeface="Arial" pitchFamily="34" charset="0"/>
                <a:ea typeface="Arial" pitchFamily="34" charset="-122"/>
                <a:cs typeface="Arial" pitchFamily="34" charset="-120"/>
              </a:rPr>
              <a:t>Lab Exercise: Prompt Variations</a:t>
            </a:r>
            <a:endParaRPr lang="en-US" sz="4000" dirty="0"/>
          </a:p>
        </p:txBody>
      </p:sp>
      <p:sp>
        <p:nvSpPr>
          <p:cNvPr id="3" name="Text 1"/>
          <p:cNvSpPr/>
          <p:nvPr/>
        </p:nvSpPr>
        <p:spPr>
          <a:xfrm>
            <a:off x="457200" y="1444095"/>
            <a:ext cx="8229600" cy="274320"/>
          </a:xfrm>
          <a:prstGeom prst="rect">
            <a:avLst/>
          </a:prstGeom>
          <a:noFill/>
          <a:ln/>
        </p:spPr>
        <p:txBody>
          <a:bodyPr wrap="square" rtlCol="0" anchor="ctr"/>
          <a:lstStyle/>
          <a:p>
            <a:pPr marL="0" indent="0">
              <a:buNone/>
            </a:pPr>
            <a:r>
              <a:rPr lang="en-US" sz="1500" b="1" dirty="0">
                <a:solidFill>
                  <a:srgbClr val="1E3A5F"/>
                </a:solidFill>
                <a:latin typeface="Arial" pitchFamily="34" charset="0"/>
                <a:ea typeface="Arial" pitchFamily="34" charset="-122"/>
                <a:cs typeface="Arial" pitchFamily="34" charset="-120"/>
              </a:rPr>
              <a:t>Today You'll Revisit Your Resume from Session 1</a:t>
            </a:r>
            <a:endParaRPr lang="en-US" sz="1500" dirty="0"/>
          </a:p>
        </p:txBody>
      </p:sp>
      <p:sp>
        <p:nvSpPr>
          <p:cNvPr id="4" name="Shape 2"/>
          <p:cNvSpPr/>
          <p:nvPr/>
        </p:nvSpPr>
        <p:spPr>
          <a:xfrm>
            <a:off x="548640" y="1901295"/>
            <a:ext cx="365760" cy="365760"/>
          </a:xfrm>
          <a:prstGeom prst="ellipse">
            <a:avLst/>
          </a:prstGeom>
          <a:solidFill>
            <a:srgbClr val="0EA5E9"/>
          </a:solidFill>
          <a:ln/>
        </p:spPr>
        <p:txBody>
          <a:bodyPr/>
          <a:lstStyle/>
          <a:p>
            <a:endParaRPr lang="en-US"/>
          </a:p>
        </p:txBody>
      </p:sp>
      <p:sp>
        <p:nvSpPr>
          <p:cNvPr id="5" name="Text 3"/>
          <p:cNvSpPr/>
          <p:nvPr/>
        </p:nvSpPr>
        <p:spPr>
          <a:xfrm>
            <a:off x="548640" y="1901295"/>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6" name="Text 4"/>
          <p:cNvSpPr/>
          <p:nvPr/>
        </p:nvSpPr>
        <p:spPr>
          <a:xfrm>
            <a:off x="1097280" y="1919583"/>
            <a:ext cx="7589520" cy="182880"/>
          </a:xfrm>
          <a:prstGeom prst="rect">
            <a:avLst/>
          </a:prstGeom>
          <a:noFill/>
          <a:ln/>
        </p:spPr>
        <p:txBody>
          <a:bodyPr wrap="square" rtlCol="0" anchor="ctr"/>
          <a:lstStyle/>
          <a:p>
            <a:pPr marL="0" indent="0">
              <a:buNone/>
            </a:pPr>
            <a:r>
              <a:rPr lang="en-US" sz="1300" b="1" dirty="0">
                <a:solidFill>
                  <a:srgbClr val="1E3A5F"/>
                </a:solidFill>
                <a:latin typeface="Arial" pitchFamily="34" charset="0"/>
                <a:ea typeface="Arial" pitchFamily="34" charset="-122"/>
                <a:cs typeface="Arial" pitchFamily="34" charset="-120"/>
              </a:rPr>
              <a:t>Start with Your Original Prompt</a:t>
            </a:r>
            <a:endParaRPr lang="en-US" sz="1300" dirty="0"/>
          </a:p>
        </p:txBody>
      </p:sp>
      <p:sp>
        <p:nvSpPr>
          <p:cNvPr id="7" name="Text 5"/>
          <p:cNvSpPr/>
          <p:nvPr/>
        </p:nvSpPr>
        <p:spPr>
          <a:xfrm>
            <a:off x="1097280" y="2102463"/>
            <a:ext cx="7589520" cy="137160"/>
          </a:xfrm>
          <a:prstGeom prst="rect">
            <a:avLst/>
          </a:prstGeom>
          <a:noFill/>
          <a:ln/>
        </p:spPr>
        <p:txBody>
          <a:bodyPr wrap="square" rtlCol="0" anchor="ctr"/>
          <a:lstStyle/>
          <a:p>
            <a:pPr marL="0" indent="0">
              <a:buNone/>
            </a:pPr>
            <a:r>
              <a:rPr lang="en-US" sz="1200" i="1" dirty="0">
                <a:solidFill>
                  <a:srgbClr val="6B7280"/>
                </a:solidFill>
                <a:latin typeface="Calibri" pitchFamily="34" charset="0"/>
                <a:ea typeface="Calibri" pitchFamily="34" charset="-122"/>
                <a:cs typeface="Calibri" pitchFamily="34" charset="-120"/>
              </a:rPr>
              <a:t>The one you created in Session 1</a:t>
            </a:r>
            <a:endParaRPr lang="en-US" sz="1200" dirty="0"/>
          </a:p>
        </p:txBody>
      </p:sp>
      <p:sp>
        <p:nvSpPr>
          <p:cNvPr id="8" name="Shape 6"/>
          <p:cNvSpPr/>
          <p:nvPr/>
        </p:nvSpPr>
        <p:spPr>
          <a:xfrm>
            <a:off x="548640" y="2495655"/>
            <a:ext cx="365760" cy="365760"/>
          </a:xfrm>
          <a:prstGeom prst="ellipse">
            <a:avLst/>
          </a:prstGeom>
          <a:solidFill>
            <a:srgbClr val="0EA5E9"/>
          </a:solidFill>
          <a:ln/>
        </p:spPr>
        <p:txBody>
          <a:bodyPr/>
          <a:lstStyle/>
          <a:p>
            <a:endParaRPr lang="en-US"/>
          </a:p>
        </p:txBody>
      </p:sp>
      <p:sp>
        <p:nvSpPr>
          <p:cNvPr id="9" name="Text 7"/>
          <p:cNvSpPr/>
          <p:nvPr/>
        </p:nvSpPr>
        <p:spPr>
          <a:xfrm>
            <a:off x="548640" y="2495655"/>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0" name="Text 8"/>
          <p:cNvSpPr/>
          <p:nvPr/>
        </p:nvSpPr>
        <p:spPr>
          <a:xfrm>
            <a:off x="1097280" y="2513943"/>
            <a:ext cx="7589520" cy="182880"/>
          </a:xfrm>
          <a:prstGeom prst="rect">
            <a:avLst/>
          </a:prstGeom>
          <a:noFill/>
          <a:ln/>
        </p:spPr>
        <p:txBody>
          <a:bodyPr wrap="square" rtlCol="0" anchor="ctr"/>
          <a:lstStyle/>
          <a:p>
            <a:pPr marL="0" indent="0">
              <a:buNone/>
            </a:pPr>
            <a:r>
              <a:rPr lang="en-US" sz="1300" b="1" dirty="0">
                <a:solidFill>
                  <a:srgbClr val="1E3A5F"/>
                </a:solidFill>
                <a:latin typeface="Arial" pitchFamily="34" charset="0"/>
                <a:ea typeface="Arial" pitchFamily="34" charset="-122"/>
                <a:cs typeface="Arial" pitchFamily="34" charset="-120"/>
              </a:rPr>
              <a:t>Generate 3 Variations</a:t>
            </a:r>
            <a:endParaRPr lang="en-US" sz="1300" dirty="0"/>
          </a:p>
        </p:txBody>
      </p:sp>
      <p:sp>
        <p:nvSpPr>
          <p:cNvPr id="11" name="Text 9"/>
          <p:cNvSpPr/>
          <p:nvPr/>
        </p:nvSpPr>
        <p:spPr>
          <a:xfrm>
            <a:off x="1097280" y="2696823"/>
            <a:ext cx="7589520" cy="137160"/>
          </a:xfrm>
          <a:prstGeom prst="rect">
            <a:avLst/>
          </a:prstGeom>
          <a:noFill/>
          <a:ln/>
        </p:spPr>
        <p:txBody>
          <a:bodyPr wrap="square" rtlCol="0" anchor="ctr"/>
          <a:lstStyle/>
          <a:p>
            <a:pPr marL="0" indent="0">
              <a:buNone/>
            </a:pPr>
            <a:r>
              <a:rPr lang="en-US" sz="1200" i="1" dirty="0">
                <a:solidFill>
                  <a:srgbClr val="6B7280"/>
                </a:solidFill>
                <a:latin typeface="Calibri" pitchFamily="34" charset="0"/>
                <a:ea typeface="Calibri" pitchFamily="34" charset="-122"/>
                <a:cs typeface="Calibri" pitchFamily="34" charset="-120"/>
              </a:rPr>
              <a:t>Try: detailed, conversational, bullet-point styles</a:t>
            </a:r>
            <a:endParaRPr lang="en-US" sz="1200" dirty="0"/>
          </a:p>
        </p:txBody>
      </p:sp>
      <p:sp>
        <p:nvSpPr>
          <p:cNvPr id="12" name="Shape 10"/>
          <p:cNvSpPr/>
          <p:nvPr/>
        </p:nvSpPr>
        <p:spPr>
          <a:xfrm>
            <a:off x="548640" y="3090015"/>
            <a:ext cx="365760" cy="365760"/>
          </a:xfrm>
          <a:prstGeom prst="ellipse">
            <a:avLst/>
          </a:prstGeom>
          <a:solidFill>
            <a:srgbClr val="0EA5E9"/>
          </a:solidFill>
          <a:ln/>
        </p:spPr>
        <p:txBody>
          <a:bodyPr/>
          <a:lstStyle/>
          <a:p>
            <a:endParaRPr lang="en-US"/>
          </a:p>
        </p:txBody>
      </p:sp>
      <p:sp>
        <p:nvSpPr>
          <p:cNvPr id="13" name="Text 11"/>
          <p:cNvSpPr/>
          <p:nvPr/>
        </p:nvSpPr>
        <p:spPr>
          <a:xfrm>
            <a:off x="548640" y="3090015"/>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4" name="Text 12"/>
          <p:cNvSpPr/>
          <p:nvPr/>
        </p:nvSpPr>
        <p:spPr>
          <a:xfrm>
            <a:off x="1097280" y="3108303"/>
            <a:ext cx="7589520" cy="182880"/>
          </a:xfrm>
          <a:prstGeom prst="rect">
            <a:avLst/>
          </a:prstGeom>
          <a:noFill/>
          <a:ln/>
        </p:spPr>
        <p:txBody>
          <a:bodyPr wrap="square" rtlCol="0" anchor="ctr"/>
          <a:lstStyle/>
          <a:p>
            <a:pPr marL="0" indent="0">
              <a:buNone/>
            </a:pPr>
            <a:r>
              <a:rPr lang="en-US" sz="1300" b="1" dirty="0">
                <a:solidFill>
                  <a:srgbClr val="1E3A5F"/>
                </a:solidFill>
                <a:latin typeface="Arial" pitchFamily="34" charset="0"/>
                <a:ea typeface="Arial" pitchFamily="34" charset="-122"/>
                <a:cs typeface="Arial" pitchFamily="34" charset="-120"/>
              </a:rPr>
              <a:t>Compare Outputs</a:t>
            </a:r>
            <a:endParaRPr lang="en-US" sz="1300" dirty="0"/>
          </a:p>
        </p:txBody>
      </p:sp>
      <p:sp>
        <p:nvSpPr>
          <p:cNvPr id="15" name="Text 13"/>
          <p:cNvSpPr/>
          <p:nvPr/>
        </p:nvSpPr>
        <p:spPr>
          <a:xfrm>
            <a:off x="1097280" y="3291183"/>
            <a:ext cx="7589520" cy="137160"/>
          </a:xfrm>
          <a:prstGeom prst="rect">
            <a:avLst/>
          </a:prstGeom>
          <a:noFill/>
          <a:ln/>
        </p:spPr>
        <p:txBody>
          <a:bodyPr wrap="square" rtlCol="0" anchor="ctr"/>
          <a:lstStyle/>
          <a:p>
            <a:pPr marL="0" indent="0">
              <a:buNone/>
            </a:pPr>
            <a:r>
              <a:rPr lang="en-US" sz="1200" i="1" dirty="0">
                <a:solidFill>
                  <a:srgbClr val="6B7280"/>
                </a:solidFill>
                <a:latin typeface="Calibri" pitchFamily="34" charset="0"/>
                <a:ea typeface="Calibri" pitchFamily="34" charset="-122"/>
                <a:cs typeface="Calibri" pitchFamily="34" charset="-120"/>
              </a:rPr>
              <a:t>What changed? What stayed the same?</a:t>
            </a:r>
            <a:endParaRPr lang="en-US" sz="1200" dirty="0"/>
          </a:p>
        </p:txBody>
      </p:sp>
      <p:sp>
        <p:nvSpPr>
          <p:cNvPr id="16" name="Shape 14"/>
          <p:cNvSpPr/>
          <p:nvPr/>
        </p:nvSpPr>
        <p:spPr>
          <a:xfrm>
            <a:off x="548640" y="3684375"/>
            <a:ext cx="365760" cy="365760"/>
          </a:xfrm>
          <a:prstGeom prst="ellipse">
            <a:avLst/>
          </a:prstGeom>
          <a:solidFill>
            <a:srgbClr val="0EA5E9"/>
          </a:solidFill>
          <a:ln/>
        </p:spPr>
        <p:txBody>
          <a:bodyPr/>
          <a:lstStyle/>
          <a:p>
            <a:endParaRPr lang="en-US"/>
          </a:p>
        </p:txBody>
      </p:sp>
      <p:sp>
        <p:nvSpPr>
          <p:cNvPr id="17" name="Text 15"/>
          <p:cNvSpPr/>
          <p:nvPr/>
        </p:nvSpPr>
        <p:spPr>
          <a:xfrm>
            <a:off x="548640" y="3684375"/>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18" name="Text 16"/>
          <p:cNvSpPr/>
          <p:nvPr/>
        </p:nvSpPr>
        <p:spPr>
          <a:xfrm>
            <a:off x="1097280" y="3702663"/>
            <a:ext cx="7589520" cy="182880"/>
          </a:xfrm>
          <a:prstGeom prst="rect">
            <a:avLst/>
          </a:prstGeom>
          <a:noFill/>
          <a:ln/>
        </p:spPr>
        <p:txBody>
          <a:bodyPr wrap="square" rtlCol="0" anchor="ctr"/>
          <a:lstStyle/>
          <a:p>
            <a:pPr marL="0" indent="0">
              <a:buNone/>
            </a:pPr>
            <a:r>
              <a:rPr lang="en-US" sz="1300" b="1" dirty="0">
                <a:solidFill>
                  <a:srgbClr val="1E3A5F"/>
                </a:solidFill>
                <a:latin typeface="Arial" pitchFamily="34" charset="0"/>
                <a:ea typeface="Arial" pitchFamily="34" charset="-122"/>
                <a:cs typeface="Arial" pitchFamily="34" charset="-120"/>
              </a:rPr>
              <a:t>Experiment with Temperature</a:t>
            </a:r>
            <a:endParaRPr lang="en-US" sz="1300" dirty="0"/>
          </a:p>
        </p:txBody>
      </p:sp>
      <p:sp>
        <p:nvSpPr>
          <p:cNvPr id="19" name="Text 17"/>
          <p:cNvSpPr/>
          <p:nvPr/>
        </p:nvSpPr>
        <p:spPr>
          <a:xfrm>
            <a:off x="1097280" y="3885543"/>
            <a:ext cx="7589520" cy="137160"/>
          </a:xfrm>
          <a:prstGeom prst="rect">
            <a:avLst/>
          </a:prstGeom>
          <a:noFill/>
          <a:ln/>
        </p:spPr>
        <p:txBody>
          <a:bodyPr wrap="square" rtlCol="0" anchor="ctr"/>
          <a:lstStyle/>
          <a:p>
            <a:pPr marL="0" indent="0">
              <a:buNone/>
            </a:pPr>
            <a:r>
              <a:rPr lang="en-US" sz="1200" i="1" dirty="0">
                <a:solidFill>
                  <a:srgbClr val="6B7280"/>
                </a:solidFill>
                <a:latin typeface="Calibri" pitchFamily="34" charset="0"/>
                <a:ea typeface="Calibri" pitchFamily="34" charset="-122"/>
                <a:cs typeface="Calibri" pitchFamily="34" charset="-120"/>
              </a:rPr>
              <a:t>Run one prompt at 0.3 and 1.2—see the difference</a:t>
            </a:r>
            <a:endParaRPr lang="en-US" sz="1200" dirty="0"/>
          </a:p>
        </p:txBody>
      </p:sp>
      <p:sp>
        <p:nvSpPr>
          <p:cNvPr id="20" name="Shape 18"/>
          <p:cNvSpPr/>
          <p:nvPr/>
        </p:nvSpPr>
        <p:spPr>
          <a:xfrm>
            <a:off x="457200" y="4480560"/>
            <a:ext cx="8229600" cy="594360"/>
          </a:xfrm>
          <a:prstGeom prst="roundRect">
            <a:avLst>
              <a:gd name="adj" fmla="val 15385"/>
            </a:avLst>
          </a:prstGeom>
          <a:solidFill>
            <a:srgbClr val="E8F1F8"/>
          </a:solidFill>
          <a:ln w="25400">
            <a:solidFill>
              <a:srgbClr val="0EA5E9"/>
            </a:solidFill>
            <a:prstDash val="solid"/>
          </a:ln>
        </p:spPr>
        <p:txBody>
          <a:bodyPr/>
          <a:lstStyle/>
          <a:p>
            <a:endParaRPr lang="en-US"/>
          </a:p>
        </p:txBody>
      </p:sp>
      <p:sp>
        <p:nvSpPr>
          <p:cNvPr id="21" name="Text 19"/>
          <p:cNvSpPr/>
          <p:nvPr/>
        </p:nvSpPr>
        <p:spPr>
          <a:xfrm>
            <a:off x="640080" y="4526280"/>
            <a:ext cx="7863840" cy="502920"/>
          </a:xfrm>
          <a:prstGeom prst="rect">
            <a:avLst/>
          </a:prstGeom>
          <a:noFill/>
          <a:ln/>
        </p:spPr>
        <p:txBody>
          <a:bodyPr wrap="square" rtlCol="0" anchor="t"/>
          <a:lstStyle/>
          <a:p>
            <a:pPr marL="0" indent="0">
              <a:buNone/>
            </a:pPr>
            <a:r>
              <a:rPr lang="en-US" sz="1300" b="1" dirty="0">
                <a:solidFill>
                  <a:srgbClr val="2E5090"/>
                </a:solidFill>
                <a:latin typeface="Calibri" pitchFamily="34" charset="0"/>
                <a:ea typeface="Calibri" pitchFamily="34" charset="-122"/>
                <a:cs typeface="Calibri" pitchFamily="34" charset="-120"/>
              </a:rPr>
              <a:t>📋 Deliverable: Document your 3 prompt variations and observations on output quality differences.</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57200"/>
            <a:ext cx="8229600" cy="731520"/>
          </a:xfrm>
          <a:prstGeom prst="rect">
            <a:avLst/>
          </a:prstGeom>
          <a:noFill/>
          <a:ln/>
        </p:spPr>
        <p:txBody>
          <a:bodyPr wrap="square" lIns="0" tIns="0" rIns="0" bIns="0" rtlCol="0" anchor="ctr"/>
          <a:lstStyle/>
          <a:p>
            <a:pPr marL="0" indent="0" algn="l">
              <a:buNone/>
            </a:pPr>
            <a:r>
              <a:rPr lang="en-US" sz="4400" b="1" dirty="0">
                <a:solidFill>
                  <a:srgbClr val="1E3A5F"/>
                </a:solidFill>
                <a:latin typeface="Arial" pitchFamily="34" charset="0"/>
                <a:ea typeface="Arial" pitchFamily="34" charset="-122"/>
                <a:cs typeface="Arial" pitchFamily="34" charset="-120"/>
              </a:rPr>
              <a:t>Key Takeaways</a:t>
            </a:r>
            <a:endParaRPr lang="en-US" sz="4400" dirty="0"/>
          </a:p>
        </p:txBody>
      </p:sp>
      <p:sp>
        <p:nvSpPr>
          <p:cNvPr id="3" name="Shape 1"/>
          <p:cNvSpPr/>
          <p:nvPr/>
        </p:nvSpPr>
        <p:spPr>
          <a:xfrm>
            <a:off x="457200" y="1371600"/>
            <a:ext cx="8229600" cy="457200"/>
          </a:xfrm>
          <a:prstGeom prst="rect">
            <a:avLst/>
          </a:prstGeom>
          <a:solidFill>
            <a:srgbClr val="FFFFFF"/>
          </a:solidFill>
          <a:ln/>
        </p:spPr>
        <p:txBody>
          <a:bodyPr/>
          <a:lstStyle/>
          <a:p>
            <a:endParaRPr lang="en-US"/>
          </a:p>
        </p:txBody>
      </p:sp>
      <p:sp>
        <p:nvSpPr>
          <p:cNvPr id="4" name="Text 2"/>
          <p:cNvSpPr/>
          <p:nvPr/>
        </p:nvSpPr>
        <p:spPr>
          <a:xfrm>
            <a:off x="640080" y="1417320"/>
            <a:ext cx="7863840" cy="365760"/>
          </a:xfrm>
          <a:prstGeom prst="rect">
            <a:avLst/>
          </a:prstGeom>
          <a:noFill/>
          <a:ln/>
        </p:spPr>
        <p:txBody>
          <a:bodyPr wrap="square" rtlCol="0" anchor="t"/>
          <a:lstStyle/>
          <a:p>
            <a:pPr marL="0" indent="0">
              <a:buNone/>
            </a:pPr>
            <a:r>
              <a:rPr lang="en-US" sz="1200" dirty="0">
                <a:solidFill>
                  <a:srgbClr val="3F3F3F"/>
                </a:solidFill>
                <a:latin typeface="Calibri" pitchFamily="34" charset="0"/>
                <a:ea typeface="Calibri" pitchFamily="34" charset="-122"/>
                <a:cs typeface="Calibri" pitchFamily="34" charset="-120"/>
              </a:rPr>
              <a:t>1. LLMs predict the next token. They don't retrieve facts—they generate statistically likely text.</a:t>
            </a:r>
            <a:endParaRPr lang="en-US" sz="1200" dirty="0"/>
          </a:p>
        </p:txBody>
      </p:sp>
      <p:sp>
        <p:nvSpPr>
          <p:cNvPr id="5" name="Shape 3"/>
          <p:cNvSpPr/>
          <p:nvPr/>
        </p:nvSpPr>
        <p:spPr>
          <a:xfrm>
            <a:off x="457200" y="1874520"/>
            <a:ext cx="8229600" cy="457200"/>
          </a:xfrm>
          <a:prstGeom prst="rect">
            <a:avLst/>
          </a:prstGeom>
          <a:solidFill>
            <a:srgbClr val="F3F4F6"/>
          </a:solidFill>
          <a:ln/>
        </p:spPr>
        <p:txBody>
          <a:bodyPr/>
          <a:lstStyle/>
          <a:p>
            <a:endParaRPr lang="en-US"/>
          </a:p>
        </p:txBody>
      </p:sp>
      <p:sp>
        <p:nvSpPr>
          <p:cNvPr id="6" name="Text 4"/>
          <p:cNvSpPr/>
          <p:nvPr/>
        </p:nvSpPr>
        <p:spPr>
          <a:xfrm>
            <a:off x="640080" y="1920240"/>
            <a:ext cx="7863840" cy="365760"/>
          </a:xfrm>
          <a:prstGeom prst="rect">
            <a:avLst/>
          </a:prstGeom>
          <a:noFill/>
          <a:ln/>
        </p:spPr>
        <p:txBody>
          <a:bodyPr wrap="square" rtlCol="0" anchor="t"/>
          <a:lstStyle/>
          <a:p>
            <a:pPr marL="0" indent="0">
              <a:buNone/>
            </a:pPr>
            <a:r>
              <a:rPr lang="en-US" sz="1200" dirty="0">
                <a:solidFill>
                  <a:srgbClr val="3F3F3F"/>
                </a:solidFill>
                <a:latin typeface="Calibri" pitchFamily="34" charset="0"/>
                <a:ea typeface="Calibri" pitchFamily="34" charset="-122"/>
                <a:cs typeface="Calibri" pitchFamily="34" charset="-120"/>
              </a:rPr>
              <a:t>2. Tokens are the currency: they drive cost, context limits, and even output sensitivity.</a:t>
            </a:r>
            <a:endParaRPr lang="en-US" sz="1200" dirty="0"/>
          </a:p>
        </p:txBody>
      </p:sp>
      <p:sp>
        <p:nvSpPr>
          <p:cNvPr id="7" name="Shape 5"/>
          <p:cNvSpPr/>
          <p:nvPr/>
        </p:nvSpPr>
        <p:spPr>
          <a:xfrm>
            <a:off x="457200" y="2377440"/>
            <a:ext cx="8229600" cy="457200"/>
          </a:xfrm>
          <a:prstGeom prst="rect">
            <a:avLst/>
          </a:prstGeom>
          <a:solidFill>
            <a:srgbClr val="FFFFFF"/>
          </a:solidFill>
          <a:ln/>
        </p:spPr>
        <p:txBody>
          <a:bodyPr/>
          <a:lstStyle/>
          <a:p>
            <a:endParaRPr lang="en-US"/>
          </a:p>
        </p:txBody>
      </p:sp>
      <p:sp>
        <p:nvSpPr>
          <p:cNvPr id="8" name="Text 6"/>
          <p:cNvSpPr/>
          <p:nvPr/>
        </p:nvSpPr>
        <p:spPr>
          <a:xfrm>
            <a:off x="640080" y="2423160"/>
            <a:ext cx="7863840" cy="365760"/>
          </a:xfrm>
          <a:prstGeom prst="rect">
            <a:avLst/>
          </a:prstGeom>
          <a:noFill/>
          <a:ln/>
        </p:spPr>
        <p:txBody>
          <a:bodyPr wrap="square" rtlCol="0" anchor="t"/>
          <a:lstStyle/>
          <a:p>
            <a:pPr marL="0" indent="0">
              <a:buNone/>
            </a:pPr>
            <a:r>
              <a:rPr lang="en-US" sz="1200" dirty="0">
                <a:solidFill>
                  <a:srgbClr val="3F3F3F"/>
                </a:solidFill>
                <a:latin typeface="Calibri" pitchFamily="34" charset="0"/>
                <a:ea typeface="Calibri" pitchFamily="34" charset="-122"/>
                <a:cs typeface="Calibri" pitchFamily="34" charset="-120"/>
              </a:rPr>
              <a:t>3. Transformers use attention layers to understand relationships between words in your prompt.</a:t>
            </a:r>
            <a:endParaRPr lang="en-US" sz="1200" dirty="0"/>
          </a:p>
        </p:txBody>
      </p:sp>
      <p:sp>
        <p:nvSpPr>
          <p:cNvPr id="9" name="Shape 7"/>
          <p:cNvSpPr/>
          <p:nvPr/>
        </p:nvSpPr>
        <p:spPr>
          <a:xfrm>
            <a:off x="457200" y="2880360"/>
            <a:ext cx="8229600" cy="457200"/>
          </a:xfrm>
          <a:prstGeom prst="rect">
            <a:avLst/>
          </a:prstGeom>
          <a:solidFill>
            <a:srgbClr val="F3F4F6"/>
          </a:solidFill>
          <a:ln/>
        </p:spPr>
        <p:txBody>
          <a:bodyPr/>
          <a:lstStyle/>
          <a:p>
            <a:endParaRPr lang="en-US"/>
          </a:p>
        </p:txBody>
      </p:sp>
      <p:sp>
        <p:nvSpPr>
          <p:cNvPr id="10" name="Text 8"/>
          <p:cNvSpPr/>
          <p:nvPr/>
        </p:nvSpPr>
        <p:spPr>
          <a:xfrm>
            <a:off x="640080" y="2926080"/>
            <a:ext cx="7863840" cy="365760"/>
          </a:xfrm>
          <a:prstGeom prst="rect">
            <a:avLst/>
          </a:prstGeom>
          <a:noFill/>
          <a:ln/>
        </p:spPr>
        <p:txBody>
          <a:bodyPr wrap="square" rtlCol="0" anchor="t"/>
          <a:lstStyle/>
          <a:p>
            <a:pPr marL="0" indent="0">
              <a:buNone/>
            </a:pPr>
            <a:r>
              <a:rPr lang="en-US" sz="1200" dirty="0">
                <a:solidFill>
                  <a:srgbClr val="3F3F3F"/>
                </a:solidFill>
                <a:latin typeface="Calibri" pitchFamily="34" charset="0"/>
                <a:ea typeface="Calibri" pitchFamily="34" charset="-122"/>
                <a:cs typeface="Calibri" pitchFamily="34" charset="-120"/>
              </a:rPr>
              <a:t>4. Pretraining builds general knowledge; fine-tuning specializes it for your task.</a:t>
            </a:r>
            <a:endParaRPr lang="en-US" sz="1200" dirty="0"/>
          </a:p>
        </p:txBody>
      </p:sp>
      <p:sp>
        <p:nvSpPr>
          <p:cNvPr id="11" name="Shape 9"/>
          <p:cNvSpPr/>
          <p:nvPr/>
        </p:nvSpPr>
        <p:spPr>
          <a:xfrm>
            <a:off x="457200" y="3383280"/>
            <a:ext cx="8229600" cy="457200"/>
          </a:xfrm>
          <a:prstGeom prst="rect">
            <a:avLst/>
          </a:prstGeom>
          <a:solidFill>
            <a:srgbClr val="FFFFFF"/>
          </a:solidFill>
          <a:ln/>
        </p:spPr>
        <p:txBody>
          <a:bodyPr/>
          <a:lstStyle/>
          <a:p>
            <a:endParaRPr lang="en-US"/>
          </a:p>
        </p:txBody>
      </p:sp>
      <p:sp>
        <p:nvSpPr>
          <p:cNvPr id="12" name="Text 10"/>
          <p:cNvSpPr/>
          <p:nvPr/>
        </p:nvSpPr>
        <p:spPr>
          <a:xfrm>
            <a:off x="640080" y="3429000"/>
            <a:ext cx="7863840" cy="365760"/>
          </a:xfrm>
          <a:prstGeom prst="rect">
            <a:avLst/>
          </a:prstGeom>
          <a:noFill/>
          <a:ln/>
        </p:spPr>
        <p:txBody>
          <a:bodyPr wrap="square" rtlCol="0" anchor="t"/>
          <a:lstStyle/>
          <a:p>
            <a:pPr marL="0" indent="0">
              <a:buNone/>
            </a:pPr>
            <a:r>
              <a:rPr lang="en-US" sz="1200" dirty="0">
                <a:solidFill>
                  <a:srgbClr val="3F3F3F"/>
                </a:solidFill>
                <a:latin typeface="Calibri" pitchFamily="34" charset="0"/>
                <a:ea typeface="Calibri" pitchFamily="34" charset="-122"/>
                <a:cs typeface="Calibri" pitchFamily="34" charset="-120"/>
              </a:rPr>
              <a:t>5. Context windows matter: they limit how much text fits in one request.</a:t>
            </a:r>
            <a:endParaRPr lang="en-US" sz="1200" dirty="0"/>
          </a:p>
        </p:txBody>
      </p:sp>
      <p:sp>
        <p:nvSpPr>
          <p:cNvPr id="13" name="Shape 11"/>
          <p:cNvSpPr/>
          <p:nvPr/>
        </p:nvSpPr>
        <p:spPr>
          <a:xfrm>
            <a:off x="457200" y="3886200"/>
            <a:ext cx="8229600" cy="457200"/>
          </a:xfrm>
          <a:prstGeom prst="rect">
            <a:avLst/>
          </a:prstGeom>
          <a:solidFill>
            <a:srgbClr val="F3F4F6"/>
          </a:solidFill>
          <a:ln/>
        </p:spPr>
        <p:txBody>
          <a:bodyPr/>
          <a:lstStyle/>
          <a:p>
            <a:endParaRPr lang="en-US"/>
          </a:p>
        </p:txBody>
      </p:sp>
      <p:sp>
        <p:nvSpPr>
          <p:cNvPr id="14" name="Text 12"/>
          <p:cNvSpPr/>
          <p:nvPr/>
        </p:nvSpPr>
        <p:spPr>
          <a:xfrm>
            <a:off x="640080" y="3931920"/>
            <a:ext cx="7863840" cy="365760"/>
          </a:xfrm>
          <a:prstGeom prst="rect">
            <a:avLst/>
          </a:prstGeom>
          <a:noFill/>
          <a:ln/>
        </p:spPr>
        <p:txBody>
          <a:bodyPr wrap="square" rtlCol="0" anchor="t"/>
          <a:lstStyle/>
          <a:p>
            <a:pPr marL="0" indent="0">
              <a:buNone/>
            </a:pPr>
            <a:r>
              <a:rPr lang="en-US" sz="1200" dirty="0">
                <a:solidFill>
                  <a:srgbClr val="3F3F3F"/>
                </a:solidFill>
                <a:latin typeface="Calibri" pitchFamily="34" charset="0"/>
                <a:ea typeface="Calibri" pitchFamily="34" charset="-122"/>
                <a:cs typeface="Calibri" pitchFamily="34" charset="-120"/>
              </a:rPr>
              <a:t>6. Parameters like temperature directly control how creative or deterministic outputs are.</a:t>
            </a:r>
            <a:endParaRPr lang="en-US" sz="1200" dirty="0"/>
          </a:p>
        </p:txBody>
      </p:sp>
      <p:sp>
        <p:nvSpPr>
          <p:cNvPr id="15" name="Shape 13"/>
          <p:cNvSpPr/>
          <p:nvPr/>
        </p:nvSpPr>
        <p:spPr>
          <a:xfrm>
            <a:off x="457200" y="4389120"/>
            <a:ext cx="8229600" cy="457200"/>
          </a:xfrm>
          <a:prstGeom prst="rect">
            <a:avLst/>
          </a:prstGeom>
          <a:solidFill>
            <a:srgbClr val="FFFFFF"/>
          </a:solidFill>
          <a:ln/>
        </p:spPr>
        <p:txBody>
          <a:bodyPr/>
          <a:lstStyle/>
          <a:p>
            <a:endParaRPr lang="en-US"/>
          </a:p>
        </p:txBody>
      </p:sp>
      <p:sp>
        <p:nvSpPr>
          <p:cNvPr id="16" name="Text 14"/>
          <p:cNvSpPr/>
          <p:nvPr/>
        </p:nvSpPr>
        <p:spPr>
          <a:xfrm>
            <a:off x="640080" y="4434840"/>
            <a:ext cx="7863840" cy="365760"/>
          </a:xfrm>
          <a:prstGeom prst="rect">
            <a:avLst/>
          </a:prstGeom>
          <a:noFill/>
          <a:ln/>
        </p:spPr>
        <p:txBody>
          <a:bodyPr wrap="square" rtlCol="0" anchor="t"/>
          <a:lstStyle/>
          <a:p>
            <a:pPr marL="0" indent="0">
              <a:buNone/>
            </a:pPr>
            <a:r>
              <a:rPr lang="en-US" sz="1200" dirty="0">
                <a:solidFill>
                  <a:srgbClr val="3F3F3F"/>
                </a:solidFill>
                <a:latin typeface="Calibri" pitchFamily="34" charset="0"/>
                <a:ea typeface="Calibri" pitchFamily="34" charset="-122"/>
                <a:cs typeface="Calibri" pitchFamily="34" charset="-120"/>
              </a:rPr>
              <a:t>7. Tiny changes in wording can shift which tokens the model attends to—changing the entire response.</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E3A5F"/>
        </a:solidFill>
        <a:effectLst/>
      </p:bgPr>
    </p:bg>
    <p:spTree>
      <p:nvGrpSpPr>
        <p:cNvPr id="1" name=""/>
        <p:cNvGrpSpPr/>
        <p:nvPr/>
      </p:nvGrpSpPr>
      <p:grpSpPr>
        <a:xfrm>
          <a:off x="0" y="0"/>
          <a:ext cx="0" cy="0"/>
          <a:chOff x="0" y="0"/>
          <a:chExt cx="0" cy="0"/>
        </a:xfrm>
      </p:grpSpPr>
      <p:sp>
        <p:nvSpPr>
          <p:cNvPr id="2" name="Text 0"/>
          <p:cNvSpPr/>
          <p:nvPr/>
        </p:nvSpPr>
        <p:spPr>
          <a:xfrm>
            <a:off x="457200" y="1097280"/>
            <a:ext cx="8229600" cy="457200"/>
          </a:xfrm>
          <a:prstGeom prst="rect">
            <a:avLst/>
          </a:prstGeom>
          <a:noFill/>
          <a:ln/>
        </p:spPr>
        <p:txBody>
          <a:bodyPr wrap="square" rtlCol="0" anchor="ctr"/>
          <a:lstStyle/>
          <a:p>
            <a:pPr marL="0" indent="0">
              <a:buNone/>
            </a:pPr>
            <a:r>
              <a:rPr lang="en-US" sz="4000" b="1" dirty="0">
                <a:solidFill>
                  <a:srgbClr val="FFFFFF"/>
                </a:solidFill>
                <a:latin typeface="Arial" pitchFamily="34" charset="0"/>
                <a:ea typeface="Arial" pitchFamily="34" charset="-122"/>
                <a:cs typeface="Arial" pitchFamily="34" charset="-120"/>
              </a:rPr>
              <a:t>Session 3: Prompt Engineering Fundamentals</a:t>
            </a:r>
            <a:endParaRPr lang="en-US" sz="4000" dirty="0"/>
          </a:p>
        </p:txBody>
      </p:sp>
      <p:sp>
        <p:nvSpPr>
          <p:cNvPr id="3" name="Text 1"/>
          <p:cNvSpPr/>
          <p:nvPr/>
        </p:nvSpPr>
        <p:spPr>
          <a:xfrm>
            <a:off x="457200" y="1828800"/>
            <a:ext cx="8229600" cy="274320"/>
          </a:xfrm>
          <a:prstGeom prst="rect">
            <a:avLst/>
          </a:prstGeom>
          <a:noFill/>
          <a:ln/>
        </p:spPr>
        <p:txBody>
          <a:bodyPr wrap="square" rtlCol="0" anchor="ctr"/>
          <a:lstStyle/>
          <a:p>
            <a:pPr marL="0" indent="0">
              <a:buNone/>
            </a:pPr>
            <a:r>
              <a:rPr lang="en-US" sz="1800" b="1" dirty="0">
                <a:solidFill>
                  <a:srgbClr val="0EA5E9"/>
                </a:solidFill>
                <a:latin typeface="Arial" pitchFamily="34" charset="0"/>
                <a:ea typeface="Arial" pitchFamily="34" charset="-122"/>
                <a:cs typeface="Arial" pitchFamily="34" charset="-120"/>
              </a:rPr>
              <a:t>Preview</a:t>
            </a:r>
            <a:endParaRPr lang="en-US" sz="1800" dirty="0"/>
          </a:p>
        </p:txBody>
      </p:sp>
      <p:sp>
        <p:nvSpPr>
          <p:cNvPr id="4" name="Text 2"/>
          <p:cNvSpPr/>
          <p:nvPr/>
        </p:nvSpPr>
        <p:spPr>
          <a:xfrm>
            <a:off x="822960" y="2286000"/>
            <a:ext cx="7863840" cy="274320"/>
          </a:xfrm>
          <a:prstGeom prst="rect">
            <a:avLst/>
          </a:prstGeom>
          <a:noFill/>
          <a:ln/>
        </p:spPr>
        <p:txBody>
          <a:bodyPr wrap="square" rtlCol="0" anchor="ctr"/>
          <a:lstStyle/>
          <a:p>
            <a:pPr marL="0" indent="0">
              <a:buNone/>
            </a:pPr>
            <a:r>
              <a:rPr lang="en-US" sz="1400" dirty="0">
                <a:solidFill>
                  <a:srgbClr val="FFFFFF"/>
                </a:solidFill>
                <a:latin typeface="Calibri" pitchFamily="34" charset="0"/>
                <a:ea typeface="Calibri" pitchFamily="34" charset="-122"/>
                <a:cs typeface="Calibri" pitchFamily="34" charset="-120"/>
              </a:rPr>
              <a:t>• Prompt structure: how to write requests that work</a:t>
            </a:r>
            <a:endParaRPr lang="en-US" sz="1400" dirty="0"/>
          </a:p>
        </p:txBody>
      </p:sp>
      <p:sp>
        <p:nvSpPr>
          <p:cNvPr id="5" name="Text 3"/>
          <p:cNvSpPr/>
          <p:nvPr/>
        </p:nvSpPr>
        <p:spPr>
          <a:xfrm>
            <a:off x="822960" y="2651760"/>
            <a:ext cx="7863840" cy="274320"/>
          </a:xfrm>
          <a:prstGeom prst="rect">
            <a:avLst/>
          </a:prstGeom>
          <a:noFill/>
          <a:ln/>
        </p:spPr>
        <p:txBody>
          <a:bodyPr wrap="square" rtlCol="0" anchor="ctr"/>
          <a:lstStyle/>
          <a:p>
            <a:pPr marL="0" indent="0">
              <a:buNone/>
            </a:pPr>
            <a:r>
              <a:rPr lang="en-US" sz="1400" dirty="0">
                <a:solidFill>
                  <a:srgbClr val="FFFFFF"/>
                </a:solidFill>
                <a:latin typeface="Calibri" pitchFamily="34" charset="0"/>
                <a:ea typeface="Calibri" pitchFamily="34" charset="-122"/>
                <a:cs typeface="Calibri" pitchFamily="34" charset="-120"/>
              </a:rPr>
              <a:t>• Examples and few-shot learning: why showing the model examples helps</a:t>
            </a:r>
            <a:endParaRPr lang="en-US" sz="1400" dirty="0"/>
          </a:p>
        </p:txBody>
      </p:sp>
      <p:sp>
        <p:nvSpPr>
          <p:cNvPr id="6" name="Text 4"/>
          <p:cNvSpPr/>
          <p:nvPr/>
        </p:nvSpPr>
        <p:spPr>
          <a:xfrm>
            <a:off x="822960" y="3017520"/>
            <a:ext cx="7863840" cy="274320"/>
          </a:xfrm>
          <a:prstGeom prst="rect">
            <a:avLst/>
          </a:prstGeom>
          <a:noFill/>
          <a:ln/>
        </p:spPr>
        <p:txBody>
          <a:bodyPr wrap="square" rtlCol="0" anchor="ctr"/>
          <a:lstStyle/>
          <a:p>
            <a:pPr marL="0" indent="0">
              <a:buNone/>
            </a:pPr>
            <a:r>
              <a:rPr lang="en-US" sz="1400" dirty="0">
                <a:solidFill>
                  <a:srgbClr val="FFFFFF"/>
                </a:solidFill>
                <a:latin typeface="Calibri" pitchFamily="34" charset="0"/>
                <a:ea typeface="Calibri" pitchFamily="34" charset="-122"/>
                <a:cs typeface="Calibri" pitchFamily="34" charset="-120"/>
              </a:rPr>
              <a:t>• Avoiding common pitfalls: why certain phrasings backfire</a:t>
            </a:r>
            <a:endParaRPr lang="en-US" sz="1400" dirty="0"/>
          </a:p>
        </p:txBody>
      </p:sp>
      <p:sp>
        <p:nvSpPr>
          <p:cNvPr id="7" name="Text 5"/>
          <p:cNvSpPr/>
          <p:nvPr/>
        </p:nvSpPr>
        <p:spPr>
          <a:xfrm>
            <a:off x="822960" y="3383280"/>
            <a:ext cx="7863840" cy="274320"/>
          </a:xfrm>
          <a:prstGeom prst="rect">
            <a:avLst/>
          </a:prstGeom>
          <a:noFill/>
          <a:ln/>
        </p:spPr>
        <p:txBody>
          <a:bodyPr wrap="square" rtlCol="0" anchor="ctr"/>
          <a:lstStyle/>
          <a:p>
            <a:pPr marL="0" indent="0">
              <a:buNone/>
            </a:pPr>
            <a:r>
              <a:rPr lang="en-US" sz="1400" dirty="0">
                <a:solidFill>
                  <a:srgbClr val="FFFFFF"/>
                </a:solidFill>
                <a:latin typeface="Calibri" pitchFamily="34" charset="0"/>
                <a:ea typeface="Calibri" pitchFamily="34" charset="-122"/>
                <a:cs typeface="Calibri" pitchFamily="34" charset="-120"/>
              </a:rPr>
              <a:t>• Lab: Refine your Session 1 resume into a polished prompt</a:t>
            </a:r>
            <a:endParaRPr lang="en-US" sz="1400" dirty="0"/>
          </a:p>
        </p:txBody>
      </p:sp>
      <p:sp>
        <p:nvSpPr>
          <p:cNvPr id="8" name="Text 6"/>
          <p:cNvSpPr/>
          <p:nvPr/>
        </p:nvSpPr>
        <p:spPr>
          <a:xfrm>
            <a:off x="457200" y="4572000"/>
            <a:ext cx="8229600" cy="365760"/>
          </a:xfrm>
          <a:prstGeom prst="rect">
            <a:avLst/>
          </a:prstGeom>
          <a:noFill/>
          <a:ln/>
        </p:spPr>
        <p:txBody>
          <a:bodyPr wrap="square" rtlCol="0" anchor="ctr"/>
          <a:lstStyle/>
          <a:p>
            <a:pPr marL="0" indent="0">
              <a:buNone/>
            </a:pPr>
            <a:r>
              <a:rPr lang="en-US" sz="1600" i="1" dirty="0">
                <a:solidFill>
                  <a:srgbClr val="E8F1F8"/>
                </a:solidFill>
                <a:latin typeface="Calibri" pitchFamily="34" charset="0"/>
                <a:ea typeface="Calibri" pitchFamily="34" charset="-122"/>
                <a:cs typeface="Calibri" pitchFamily="34" charset="-120"/>
              </a:rPr>
              <a:t>Thank you. See you next session.</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1395</Words>
  <Application>Microsoft Macintosh PowerPoint</Application>
  <PresentationFormat>On-screen Show (16:9)</PresentationFormat>
  <Paragraphs>171</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Session 2: LLM Fundamentals and Output Behavior</dc:title>
  <dc:subject>PptxGenJS Presentation</dc:subject>
  <dc:creator>Dinesh Wadhwani</dc:creator>
  <cp:lastModifiedBy>Dinesh Wadhwani</cp:lastModifiedBy>
  <cp:revision>3</cp:revision>
  <dcterms:created xsi:type="dcterms:W3CDTF">2026-07-08T07:24:45Z</dcterms:created>
  <dcterms:modified xsi:type="dcterms:W3CDTF">2026-07-08T07:49:47Z</dcterms:modified>
</cp:coreProperties>
</file>